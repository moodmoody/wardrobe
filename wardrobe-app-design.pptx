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D2D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B735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</a:rPr>
              <a:t>衣橱 App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457200" y="31089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8B7355"/>
                </a:solidFill>
              </a:rPr>
              <a:t>数字化衣橱管理 · 清晰了解你的穿衣状态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59436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99999"/>
                </a:solidFill>
              </a:rPr>
              <a:t>Flutter · Drift/SQLite · Riverpod · 本地优先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8B73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6576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</a:rPr>
              <a:t>01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365760" y="182880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产品概览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365760" y="31089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四大核心功能，一站式衣橱管理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0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2D2D"/>
                </a:solidFill>
              </a:rPr>
              <a:t>产品概览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2286000" cy="45720"/>
          </a:xfrm>
          <a:prstGeom prst="rect">
            <a:avLst/>
          </a:prstGeom>
          <a:solidFill>
            <a:srgbClr val="8B7355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371600"/>
            <a:ext cx="2606040" cy="4114800"/>
          </a:xfrm>
          <a:prstGeom prst="roundRect">
            <a:avLst>
              <a:gd name="adj" fmla="val 5263"/>
            </a:avLst>
          </a:prstGeom>
          <a:solidFill>
            <a:srgbClr val="FAFAF8"/>
          </a:solidFill>
          <a:ln w="12700">
            <a:solidFill>
              <a:srgbClr val="E8E4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645920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📸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65760" y="260604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2D2D"/>
                </a:solidFill>
              </a:rPr>
              <a:t>拍照录入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3200400"/>
            <a:ext cx="2606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B6B"/>
                </a:solidFill>
              </a:rPr>
              <a:t>拍照/相册导入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B6B6B"/>
                </a:solidFill>
              </a:rPr>
              <a:t>自动裁剪+压缩存档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154680" y="1371600"/>
            <a:ext cx="2606040" cy="4114800"/>
          </a:xfrm>
          <a:prstGeom prst="roundRect">
            <a:avLst>
              <a:gd name="adj" fmla="val 5263"/>
            </a:avLst>
          </a:prstGeom>
          <a:solidFill>
            <a:srgbClr val="FAFAF8"/>
          </a:solidFill>
          <a:ln w="12700">
            <a:solidFill>
              <a:srgbClr val="E8E4D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54680" y="1645920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🏷️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3154680" y="260604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2D2D"/>
                </a:solidFill>
              </a:rPr>
              <a:t>分类标签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154680" y="3200400"/>
            <a:ext cx="2606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B6B"/>
                </a:solidFill>
              </a:rPr>
              <a:t>品类/颜色/季节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B6B6B"/>
                </a:solidFill>
              </a:rPr>
              <a:t>场合/品牌/自定义标签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943600" y="1371600"/>
            <a:ext cx="2606040" cy="4114800"/>
          </a:xfrm>
          <a:prstGeom prst="roundRect">
            <a:avLst>
              <a:gd name="adj" fmla="val 5263"/>
            </a:avLst>
          </a:prstGeom>
          <a:solidFill>
            <a:srgbClr val="FAFAF8"/>
          </a:solidFill>
          <a:ln w="12700">
            <a:solidFill>
              <a:srgbClr val="E8E4D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0" y="1645920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👗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5943600" y="260604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2D2D"/>
                </a:solidFill>
              </a:rPr>
              <a:t>穿搭搭配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943600" y="3200400"/>
            <a:ext cx="2606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B6B"/>
                </a:solidFill>
              </a:rPr>
              <a:t>组合搭配方案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B6B6B"/>
                </a:solidFill>
              </a:rPr>
              <a:t>收藏常用穿搭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732520" y="1371600"/>
            <a:ext cx="2606040" cy="4114800"/>
          </a:xfrm>
          <a:prstGeom prst="roundRect">
            <a:avLst>
              <a:gd name="adj" fmla="val 5263"/>
            </a:avLst>
          </a:prstGeom>
          <a:solidFill>
            <a:srgbClr val="FAFAF8"/>
          </a:solidFill>
          <a:ln w="12700">
            <a:solidFill>
              <a:srgbClr val="E8E4D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32520" y="1645920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📊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8732520" y="260604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2D2D"/>
                </a:solidFill>
              </a:rPr>
              <a:t>穿着统计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732520" y="3200400"/>
            <a:ext cx="2606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B6B"/>
                </a:solidFill>
              </a:rPr>
              <a:t>穿着次数/最后穿时间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B6B6B"/>
                </a:solidFill>
              </a:rPr>
              <a:t>单次穿着成本分析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8B73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6576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</a:rPr>
              <a:t>02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365760" y="182880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技术架构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365760" y="31089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Flutter + Drift + Riverpod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0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2D2D"/>
                </a:solidFill>
              </a:rPr>
              <a:t>技术栈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828800" cy="45720"/>
          </a:xfrm>
          <a:prstGeom prst="rect">
            <a:avLst/>
          </a:prstGeom>
          <a:solidFill>
            <a:srgbClr val="8B7355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188720"/>
            <a:ext cx="2011680" cy="566928"/>
          </a:xfrm>
          <a:prstGeom prst="rect">
            <a:avLst/>
          </a:prstGeom>
          <a:solidFill>
            <a:srgbClr val="2D2D2D"/>
          </a:solidFill>
          <a:ln w="6350">
            <a:solidFill>
              <a:srgbClr val="E8E4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34440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层次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468880" y="1188720"/>
            <a:ext cx="2926080" cy="566928"/>
          </a:xfrm>
          <a:prstGeom prst="rect">
            <a:avLst/>
          </a:prstGeom>
          <a:solidFill>
            <a:srgbClr val="2D2D2D"/>
          </a:solidFill>
          <a:ln w="6350">
            <a:solidFill>
              <a:srgbClr val="E8E4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0" y="1234440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技术选型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0" y="1188720"/>
            <a:ext cx="5486400" cy="566928"/>
          </a:xfrm>
          <a:prstGeom prst="rect">
            <a:avLst/>
          </a:prstGeom>
          <a:solidFill>
            <a:srgbClr val="2D2D2D"/>
          </a:solidFill>
          <a:ln w="6350">
            <a:solidFill>
              <a:srgbClr val="E8E4D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77840" y="1234440"/>
            <a:ext cx="5303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选用理由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1755648"/>
            <a:ext cx="20116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8E4D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801368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</a:rPr>
              <a:t>平台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468880" y="1755648"/>
            <a:ext cx="29260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8E4D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0" y="1801368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</a:rPr>
              <a:t>Flutter 3.22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0" y="1755648"/>
            <a:ext cx="54864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8E4D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77840" y="1801368"/>
            <a:ext cx="5303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</a:rPr>
              <a:t>iOS + Android 双端，单套代码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2322576"/>
            <a:ext cx="2011680" cy="566928"/>
          </a:xfrm>
          <a:prstGeom prst="rect">
            <a:avLst/>
          </a:prstGeom>
          <a:solidFill>
            <a:srgbClr val="FAFAF8"/>
          </a:solidFill>
          <a:ln w="6350">
            <a:solidFill>
              <a:srgbClr val="E8E4D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368296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</a:rPr>
              <a:t>状态管理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468880" y="2322576"/>
            <a:ext cx="2926080" cy="566928"/>
          </a:xfrm>
          <a:prstGeom prst="rect">
            <a:avLst/>
          </a:prstGeom>
          <a:solidFill>
            <a:srgbClr val="FAFAF8"/>
          </a:solidFill>
          <a:ln w="6350">
            <a:solidFill>
              <a:srgbClr val="E8E4D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0" y="2368296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</a:rPr>
              <a:t>Riverpod 2.x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0" y="2322576"/>
            <a:ext cx="5486400" cy="566928"/>
          </a:xfrm>
          <a:prstGeom prst="rect">
            <a:avLst/>
          </a:prstGeom>
          <a:solidFill>
            <a:srgbClr val="FAFAF8"/>
          </a:solidFill>
          <a:ln w="6350">
            <a:solidFill>
              <a:srgbClr val="E8E4D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77840" y="2368296"/>
            <a:ext cx="5303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</a:rPr>
              <a:t>编译期安全，响应式 Stream，可测试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5760" y="2889504"/>
            <a:ext cx="20116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8E4D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2935224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</a:rPr>
              <a:t>本地数据库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468880" y="2889504"/>
            <a:ext cx="29260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8E4D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560320" y="2935224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</a:rPr>
              <a:t>Drift (SQLite)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486400" y="2889504"/>
            <a:ext cx="54864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8E4D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577840" y="2935224"/>
            <a:ext cx="5303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</a:rPr>
              <a:t>类型安全 SQL，响应式查询流，迁移支持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65760" y="3456432"/>
            <a:ext cx="2011680" cy="566928"/>
          </a:xfrm>
          <a:prstGeom prst="rect">
            <a:avLst/>
          </a:prstGeom>
          <a:solidFill>
            <a:srgbClr val="FAFAF8"/>
          </a:solidFill>
          <a:ln w="6350">
            <a:solidFill>
              <a:srgbClr val="E8E4D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3502152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</a:rPr>
              <a:t>路由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468880" y="3456432"/>
            <a:ext cx="2926080" cy="566928"/>
          </a:xfrm>
          <a:prstGeom prst="rect">
            <a:avLst/>
          </a:prstGeom>
          <a:solidFill>
            <a:srgbClr val="FAFAF8"/>
          </a:solidFill>
          <a:ln w="6350">
            <a:solidFill>
              <a:srgbClr val="E8E4D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560320" y="3502152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</a:rPr>
              <a:t>go_router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486400" y="3456432"/>
            <a:ext cx="5486400" cy="566928"/>
          </a:xfrm>
          <a:prstGeom prst="rect">
            <a:avLst/>
          </a:prstGeom>
          <a:solidFill>
            <a:srgbClr val="FAFAF8"/>
          </a:solidFill>
          <a:ln w="6350">
            <a:solidFill>
              <a:srgbClr val="E8E4D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577840" y="3502152"/>
            <a:ext cx="5303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</a:rPr>
              <a:t>ShellRoute 持久底栏，声明式路由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4023360"/>
            <a:ext cx="20116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8E4D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4069080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</a:rPr>
              <a:t>图片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2468880" y="4023360"/>
            <a:ext cx="29260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8E4D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560320" y="4069080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</a:rPr>
              <a:t>image_picker + image_cropper + flutter_image_compress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5486400" y="4023360"/>
            <a:ext cx="54864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8E4D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77840" y="4069080"/>
            <a:ext cx="5303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</a:rPr>
              <a:t>完整流水线：拍照→裁剪→压缩→存盘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65760" y="4590288"/>
            <a:ext cx="2011680" cy="566928"/>
          </a:xfrm>
          <a:prstGeom prst="rect">
            <a:avLst/>
          </a:prstGeom>
          <a:solidFill>
            <a:srgbClr val="FAFAF8"/>
          </a:solidFill>
          <a:ln w="6350">
            <a:solidFill>
              <a:srgbClr val="E8E4D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4636008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</a:rPr>
              <a:t>图表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2468880" y="4590288"/>
            <a:ext cx="2926080" cy="566928"/>
          </a:xfrm>
          <a:prstGeom prst="rect">
            <a:avLst/>
          </a:prstGeom>
          <a:solidFill>
            <a:srgbClr val="FAFAF8"/>
          </a:solidFill>
          <a:ln w="6350">
            <a:solidFill>
              <a:srgbClr val="E8E4D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560320" y="4636008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</a:rPr>
              <a:t>fl_chart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5486400" y="4590288"/>
            <a:ext cx="5486400" cy="566928"/>
          </a:xfrm>
          <a:prstGeom prst="rect">
            <a:avLst/>
          </a:prstGeom>
          <a:solidFill>
            <a:srgbClr val="FAFAF8"/>
          </a:solidFill>
          <a:ln w="6350">
            <a:solidFill>
              <a:srgbClr val="E8E4D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577840" y="4636008"/>
            <a:ext cx="5303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</a:rPr>
              <a:t>穿频柱状图、品类饼图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365760" y="5157216"/>
            <a:ext cx="20116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8E4D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7200" y="5202936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</a:rPr>
              <a:t>主题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2468880" y="5157216"/>
            <a:ext cx="29260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8E4D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560320" y="5202936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</a:rPr>
              <a:t>flex_color_scheme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5486400" y="5157216"/>
            <a:ext cx="54864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8E4D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577840" y="5202936"/>
            <a:ext cx="5303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</a:rPr>
              <a:t>Material 3，一键深色模式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8B73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6576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</a:rPr>
              <a:t>03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365760" y="182880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数据模型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365760" y="31089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三张主表 + 两张关联表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0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2D2D"/>
                </a:solidFill>
              </a:rPr>
              <a:t>核心数据模型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2560320" cy="45720"/>
          </a:xfrm>
          <a:prstGeom prst="rect">
            <a:avLst/>
          </a:prstGeom>
          <a:solidFill>
            <a:srgbClr val="8B7355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1005840"/>
            <a:ext cx="3520440" cy="5394960"/>
          </a:xfrm>
          <a:prstGeom prst="roundRect">
            <a:avLst>
              <a:gd name="adj" fmla="val 3117"/>
            </a:avLst>
          </a:prstGeom>
          <a:solidFill>
            <a:srgbClr val="FAFAF8"/>
          </a:solidFill>
          <a:ln w="12700">
            <a:solidFill>
              <a:srgbClr val="E8E4D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005840"/>
            <a:ext cx="3520440" cy="731520"/>
          </a:xfrm>
          <a:prstGeom prst="roundRect">
            <a:avLst>
              <a:gd name="adj" fmla="val 15000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5156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ClothingItem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DDDD"/>
                </a:solidFill>
              </a:rPr>
              <a:t>服装单品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920240"/>
            <a:ext cx="3246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id (UUID)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57200" y="2450592"/>
            <a:ext cx="3246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name, brand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7200" y="2980944"/>
            <a:ext cx="3246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category, colors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7200" y="3511296"/>
            <a:ext cx="3246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seasons, occasions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57200" y="4041648"/>
            <a:ext cx="3246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tags[]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57200" y="4572000"/>
            <a:ext cx="3246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purchasePrice?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57200" y="5102352"/>
            <a:ext cx="3246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imagePath + thumbnailPath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57200" y="5632704"/>
            <a:ext cx="3246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status, isFavorite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023360" y="1005840"/>
            <a:ext cx="3520440" cy="5394960"/>
          </a:xfrm>
          <a:prstGeom prst="roundRect">
            <a:avLst>
              <a:gd name="adj" fmla="val 3117"/>
            </a:avLst>
          </a:prstGeom>
          <a:solidFill>
            <a:srgbClr val="FAFAF8"/>
          </a:solidFill>
          <a:ln w="12700">
            <a:solidFill>
              <a:srgbClr val="E8E4D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023360" y="1005840"/>
            <a:ext cx="3520440" cy="731520"/>
          </a:xfrm>
          <a:prstGeom prst="roundRect">
            <a:avLst>
              <a:gd name="adj" fmla="val 15000"/>
            </a:avLst>
          </a:prstGeom>
          <a:solidFill>
            <a:srgbClr val="8B7355"/>
          </a:solidFill>
          <a:ln w="12700">
            <a:solidFill>
              <a:srgbClr val="8B73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60520" y="105156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Outfit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160520" y="1417320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DDDD"/>
                </a:solidFill>
              </a:rPr>
              <a:t>穿搭方案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160520" y="1920240"/>
            <a:ext cx="3246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id (UUID)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160520" y="2450592"/>
            <a:ext cx="3246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name, description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160520" y="2980944"/>
            <a:ext cx="3246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seasons, occasions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160520" y="3511296"/>
            <a:ext cx="3246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tags[]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160520" y="4041648"/>
            <a:ext cx="3246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coverImagePath?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160520" y="4572000"/>
            <a:ext cx="3246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isFavorite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160520" y="5102352"/>
            <a:ext cx="3246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outfit_clothing_items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160520" y="5632704"/>
            <a:ext cx="3246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(junction table)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7726680" y="1005840"/>
            <a:ext cx="3520440" cy="5394960"/>
          </a:xfrm>
          <a:prstGeom prst="roundRect">
            <a:avLst>
              <a:gd name="adj" fmla="val 3117"/>
            </a:avLst>
          </a:prstGeom>
          <a:solidFill>
            <a:srgbClr val="FAFAF8"/>
          </a:solidFill>
          <a:ln w="12700">
            <a:solidFill>
              <a:srgbClr val="E8E4D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726680" y="1005840"/>
            <a:ext cx="3520440" cy="731520"/>
          </a:xfrm>
          <a:prstGeom prst="roundRect">
            <a:avLst>
              <a:gd name="adj" fmla="val 15000"/>
            </a:avLst>
          </a:prstGeom>
          <a:solidFill>
            <a:srgbClr val="4A6741"/>
          </a:solidFill>
          <a:ln w="12700">
            <a:solidFill>
              <a:srgbClr val="4A674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863840" y="105156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WearRecord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7863840" y="1417320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DDDD"/>
                </a:solidFill>
              </a:rPr>
              <a:t>穿着记录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863840" y="1920240"/>
            <a:ext cx="3246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id (UUID)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7863840" y="2450592"/>
            <a:ext cx="3246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outfitId? (FK)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7863840" y="2980944"/>
            <a:ext cx="3246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wornAt (可补录)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7863840" y="3511296"/>
            <a:ext cx="3246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occasion, weather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7863840" y="4041648"/>
            <a:ext cx="3246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notes?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7863840" y="4572000"/>
            <a:ext cx="3246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wear_record_items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7863840" y="5102352"/>
            <a:ext cx="3246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(junction table)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7863840" y="5632704"/>
            <a:ext cx="3246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计算: costPerWear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8B73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6576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</a:rPr>
              <a:t>04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365760" y="182880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导航 &amp; 页面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365760" y="31089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5 Tab 底部导航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0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2D2D"/>
                </a:solidFill>
              </a:rPr>
              <a:t>导航结构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3200400" cy="45720"/>
          </a:xfrm>
          <a:prstGeom prst="rect">
            <a:avLst/>
          </a:prstGeom>
          <a:solidFill>
            <a:srgbClr val="8B7355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005840"/>
            <a:ext cx="2103120" cy="5394960"/>
          </a:xfrm>
          <a:prstGeom prst="roundRect">
            <a:avLst>
              <a:gd name="adj" fmla="val 5217"/>
            </a:avLst>
          </a:prstGeom>
          <a:solidFill>
            <a:srgbClr val="FAFAF8"/>
          </a:solidFill>
          <a:ln w="12700">
            <a:solidFill>
              <a:srgbClr val="E8E4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9728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👚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74320" y="17830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2D2D"/>
                </a:solidFill>
              </a:rPr>
              <a:t>衣橱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2331720"/>
            <a:ext cx="1188720" cy="36576"/>
          </a:xfrm>
          <a:prstGeom prst="rect">
            <a:avLst/>
          </a:prstGeom>
          <a:solidFill>
            <a:srgbClr val="8B7355"/>
          </a:solidFill>
          <a:ln/>
        </p:spPr>
      </p:sp>
      <p:sp>
        <p:nvSpPr>
          <p:cNvPr id="8" name="Text 6"/>
          <p:cNvSpPr/>
          <p:nvPr/>
        </p:nvSpPr>
        <p:spPr>
          <a:xfrm>
            <a:off x="384048" y="2514600"/>
            <a:ext cx="18836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</a:rPr>
              <a:t>服装方格列表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84048" y="3200400"/>
            <a:ext cx="18836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</a:rPr>
              <a:t>分类/颜色/季节筛选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84048" y="3886200"/>
            <a:ext cx="18836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</a:rPr>
              <a:t>单品详情页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84048" y="4572000"/>
            <a:ext cx="18836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</a:rPr>
              <a:t>添加/编辑单品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542032" y="1005840"/>
            <a:ext cx="2103120" cy="5394960"/>
          </a:xfrm>
          <a:prstGeom prst="roundRect">
            <a:avLst>
              <a:gd name="adj" fmla="val 5217"/>
            </a:avLst>
          </a:prstGeom>
          <a:solidFill>
            <a:srgbClr val="FAFAF8"/>
          </a:solidFill>
          <a:ln w="12700">
            <a:solidFill>
              <a:srgbClr val="E8E4D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42032" y="109728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✨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2542032" y="17830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2D2D"/>
                </a:solidFill>
              </a:rPr>
              <a:t>搭配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2999232" y="2331720"/>
            <a:ext cx="1188720" cy="36576"/>
          </a:xfrm>
          <a:prstGeom prst="rect">
            <a:avLst/>
          </a:prstGeom>
          <a:solidFill>
            <a:srgbClr val="8B7355"/>
          </a:solidFill>
          <a:ln/>
        </p:spPr>
      </p:sp>
      <p:sp>
        <p:nvSpPr>
          <p:cNvPr id="16" name="Text 14"/>
          <p:cNvSpPr/>
          <p:nvPr/>
        </p:nvSpPr>
        <p:spPr>
          <a:xfrm>
            <a:off x="2651760" y="2514600"/>
            <a:ext cx="18836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</a:rPr>
              <a:t>搭配方案列表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651760" y="3200400"/>
            <a:ext cx="18836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</a:rPr>
              <a:t>创建新搭配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651760" y="3886200"/>
            <a:ext cx="18836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</a:rPr>
              <a:t>搭配详情 &amp; 历史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651760" y="4572000"/>
            <a:ext cx="18836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</a:rPr>
              <a:t>单品多选 Sheet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809744" y="1005840"/>
            <a:ext cx="2103120" cy="5394960"/>
          </a:xfrm>
          <a:prstGeom prst="roundRect">
            <a:avLst>
              <a:gd name="adj" fmla="val 5217"/>
            </a:avLst>
          </a:prstGeom>
          <a:solidFill>
            <a:srgbClr val="FAFAF8"/>
          </a:solidFill>
          <a:ln w="12700">
            <a:solidFill>
              <a:srgbClr val="E8E4D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9744" y="109728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➕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4809744" y="17830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2D2D"/>
                </a:solidFill>
              </a:rPr>
              <a:t>记录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266944" y="2331720"/>
            <a:ext cx="1188720" cy="36576"/>
          </a:xfrm>
          <a:prstGeom prst="rect">
            <a:avLst/>
          </a:prstGeom>
          <a:solidFill>
            <a:srgbClr val="8B7355"/>
          </a:solidFill>
          <a:ln/>
        </p:spPr>
      </p:sp>
      <p:sp>
        <p:nvSpPr>
          <p:cNvPr id="24" name="Text 22"/>
          <p:cNvSpPr/>
          <p:nvPr/>
        </p:nvSpPr>
        <p:spPr>
          <a:xfrm>
            <a:off x="4919472" y="2514600"/>
            <a:ext cx="18836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</a:rPr>
              <a:t>Modal 底部弹窗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919472" y="3200400"/>
            <a:ext cx="18836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</a:rPr>
              <a:t>选搭配或选单品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919472" y="3886200"/>
            <a:ext cx="18836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</a:rPr>
              <a:t>日期/场合/备注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919472" y="4572000"/>
            <a:ext cx="18836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</a:rPr>
              <a:t>支持补录历史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077456" y="1005840"/>
            <a:ext cx="2103120" cy="5394960"/>
          </a:xfrm>
          <a:prstGeom prst="roundRect">
            <a:avLst>
              <a:gd name="adj" fmla="val 5217"/>
            </a:avLst>
          </a:prstGeom>
          <a:solidFill>
            <a:srgbClr val="FAFAF8"/>
          </a:solidFill>
          <a:ln w="12700">
            <a:solidFill>
              <a:srgbClr val="E8E4D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077456" y="109728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📈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7077456" y="17830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2D2D"/>
                </a:solidFill>
              </a:rPr>
              <a:t>统计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7534656" y="2331720"/>
            <a:ext cx="1188720" cy="36576"/>
          </a:xfrm>
          <a:prstGeom prst="rect">
            <a:avLst/>
          </a:prstGeom>
          <a:solidFill>
            <a:srgbClr val="8B7355"/>
          </a:solidFill>
          <a:ln/>
        </p:spPr>
      </p:sp>
      <p:sp>
        <p:nvSpPr>
          <p:cNvPr id="32" name="Text 30"/>
          <p:cNvSpPr/>
          <p:nvPr/>
        </p:nvSpPr>
        <p:spPr>
          <a:xfrm>
            <a:off x="7187184" y="2514600"/>
            <a:ext cx="18836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</a:rPr>
              <a:t>总览汇总卡片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187184" y="3200400"/>
            <a:ext cx="18836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</a:rPr>
              <a:t>穿频柱状图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187184" y="3886200"/>
            <a:ext cx="18836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</a:rPr>
              <a:t>品类分布饼图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187184" y="4572000"/>
            <a:ext cx="18836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</a:rPr>
              <a:t>单次成本排行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9345168" y="1005840"/>
            <a:ext cx="2103120" cy="5394960"/>
          </a:xfrm>
          <a:prstGeom prst="roundRect">
            <a:avLst>
              <a:gd name="adj" fmla="val 5217"/>
            </a:avLst>
          </a:prstGeom>
          <a:solidFill>
            <a:srgbClr val="FAFAF8"/>
          </a:solidFill>
          <a:ln w="12700">
            <a:solidFill>
              <a:srgbClr val="E8E4D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345168" y="109728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⚙️</a:t>
            </a:r>
            <a:endParaRPr lang="en-US" sz="2800" dirty="0"/>
          </a:p>
        </p:txBody>
      </p:sp>
      <p:sp>
        <p:nvSpPr>
          <p:cNvPr id="38" name="Text 36"/>
          <p:cNvSpPr/>
          <p:nvPr/>
        </p:nvSpPr>
        <p:spPr>
          <a:xfrm>
            <a:off x="9345168" y="17830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2D2D"/>
                </a:solidFill>
              </a:rPr>
              <a:t>设置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9802368" y="2331720"/>
            <a:ext cx="1188720" cy="36576"/>
          </a:xfrm>
          <a:prstGeom prst="rect">
            <a:avLst/>
          </a:prstGeom>
          <a:solidFill>
            <a:srgbClr val="8B7355"/>
          </a:solidFill>
          <a:ln/>
        </p:spPr>
      </p:sp>
      <p:sp>
        <p:nvSpPr>
          <p:cNvPr id="40" name="Text 38"/>
          <p:cNvSpPr/>
          <p:nvPr/>
        </p:nvSpPr>
        <p:spPr>
          <a:xfrm>
            <a:off x="9454896" y="2514600"/>
            <a:ext cx="18836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</a:rPr>
              <a:t>主题切换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9454896" y="3200400"/>
            <a:ext cx="18836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</a:rPr>
              <a:t>货币设置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9454896" y="3886200"/>
            <a:ext cx="18836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</a:rPr>
              <a:t>数据导出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9454896" y="4572000"/>
            <a:ext cx="18836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</a:rPr>
              <a:t>云同步入口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8B73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6576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</a:rPr>
              <a:t>05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365760" y="182880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图片流水线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365760" y="31089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拍照 → 裁剪 → 压缩 → 存盘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0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2D2D"/>
                </a:solidFill>
              </a:rPr>
              <a:t>图片处理流水线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2926080" cy="45720"/>
          </a:xfrm>
          <a:prstGeom prst="rect">
            <a:avLst/>
          </a:prstGeom>
          <a:solidFill>
            <a:srgbClr val="8B7355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2423160" cy="3840480"/>
          </a:xfrm>
          <a:prstGeom prst="roundRect">
            <a:avLst>
              <a:gd name="adj" fmla="val 4528"/>
            </a:avLst>
          </a:prstGeom>
          <a:solidFill>
            <a:srgbClr val="FAFAF8"/>
          </a:solidFill>
          <a:ln w="12700">
            <a:solidFill>
              <a:srgbClr val="E8E4D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25880" y="1234440"/>
            <a:ext cx="685800" cy="685800"/>
          </a:xfrm>
          <a:prstGeom prst="ellipse">
            <a:avLst/>
          </a:prstGeom>
          <a:solidFill>
            <a:srgbClr val="8B7355"/>
          </a:solidFill>
          <a:ln w="12700">
            <a:solidFill>
              <a:srgbClr val="8B73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25880" y="123444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205740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2D2D"/>
                </a:solidFill>
              </a:rPr>
              <a:t>选图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94360" y="2606040"/>
            <a:ext cx="21488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image_picker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Camera/Gallery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maxWidth 1920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quality 85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880360" y="260604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8B7355"/>
                </a:solidFill>
              </a:rPr>
              <a:t>&gt;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200400" y="1097280"/>
            <a:ext cx="2423160" cy="3840480"/>
          </a:xfrm>
          <a:prstGeom prst="roundRect">
            <a:avLst>
              <a:gd name="adj" fmla="val 4528"/>
            </a:avLst>
          </a:prstGeom>
          <a:solidFill>
            <a:srgbClr val="FFFFFF"/>
          </a:solidFill>
          <a:ln w="12700">
            <a:solidFill>
              <a:srgbClr val="E8E4D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069080" y="1234440"/>
            <a:ext cx="685800" cy="685800"/>
          </a:xfrm>
          <a:prstGeom prst="ellipse">
            <a:avLst/>
          </a:prstGeom>
          <a:solidFill>
            <a:srgbClr val="8B7355"/>
          </a:solidFill>
          <a:ln w="12700">
            <a:solidFill>
              <a:srgbClr val="8B73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69080" y="123444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200400" y="205740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2D2D"/>
                </a:solidFill>
              </a:rPr>
              <a:t>裁剪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337560" y="2606040"/>
            <a:ext cx="21488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image_cropper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正方形预设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原比例可选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统一视觉规格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623560" y="260604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8B7355"/>
                </a:solidFill>
              </a:rPr>
              <a:t>&gt;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5943600" y="1097280"/>
            <a:ext cx="2423160" cy="3840480"/>
          </a:xfrm>
          <a:prstGeom prst="roundRect">
            <a:avLst>
              <a:gd name="adj" fmla="val 4528"/>
            </a:avLst>
          </a:prstGeom>
          <a:solidFill>
            <a:srgbClr val="FAFAF8"/>
          </a:solidFill>
          <a:ln w="12700">
            <a:solidFill>
              <a:srgbClr val="E8E4D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12280" y="1234440"/>
            <a:ext cx="685800" cy="685800"/>
          </a:xfrm>
          <a:prstGeom prst="ellipse">
            <a:avLst/>
          </a:prstGeom>
          <a:solidFill>
            <a:srgbClr val="8B7355"/>
          </a:solidFill>
          <a:ln w="12700">
            <a:solidFill>
              <a:srgbClr val="8B73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12280" y="123444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943600" y="205740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2D2D"/>
                </a:solidFill>
              </a:rPr>
              <a:t>压缩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080760" y="2606040"/>
            <a:ext cx="21488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flutter_image_compress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原图 800px q80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缩略图 300px q70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{uuid}_full/_thumb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366760" y="260604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8B7355"/>
                </a:solidFill>
              </a:rPr>
              <a:t>&gt;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8686800" y="1097280"/>
            <a:ext cx="2423160" cy="3840480"/>
          </a:xfrm>
          <a:prstGeom prst="roundRect">
            <a:avLst>
              <a:gd name="adj" fmla="val 4528"/>
            </a:avLst>
          </a:prstGeom>
          <a:solidFill>
            <a:srgbClr val="FFFFFF"/>
          </a:solidFill>
          <a:ln w="12700">
            <a:solidFill>
              <a:srgbClr val="E8E4D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555480" y="1234440"/>
            <a:ext cx="685800" cy="685800"/>
          </a:xfrm>
          <a:prstGeom prst="ellipse">
            <a:avLst/>
          </a:prstGeom>
          <a:solidFill>
            <a:srgbClr val="8B7355"/>
          </a:solidFill>
          <a:ln w="12700">
            <a:solidFill>
              <a:srgbClr val="8B73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555480" y="123444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8686800" y="205740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2D2D"/>
                </a:solidFill>
              </a:rPr>
              <a:t>写库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8823960" y="2606040"/>
            <a:ext cx="21488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Drift DAO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imagePath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thumbnailPath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更新/创建记录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5212080"/>
            <a:ext cx="10515600" cy="822960"/>
          </a:xfrm>
          <a:prstGeom prst="roundRect">
            <a:avLst>
              <a:gd name="adj" fmla="val 11111"/>
            </a:avLst>
          </a:prstGeom>
          <a:solidFill>
            <a:srgbClr val="FFF8F0"/>
          </a:solidFill>
          <a:ln w="12700">
            <a:solidFill>
              <a:srgbClr val="8B735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52578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</a:rPr>
              <a:t>重要：删除单品时先删磁盘 _full.jpg 和 _thumb.jpg，再删 DB 记录，避免孤立文件积累。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8B73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6576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</a:rPr>
              <a:t>06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365760" y="182880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数据库设计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365760" y="31089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SQLite Schema + Supabase 兼容</a:t>
            </a:r>
            <a:endParaRPr 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2F0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2D2D"/>
                </a:solidFill>
              </a:rPr>
              <a:t>数据库 Schema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3200400" cy="45720"/>
          </a:xfrm>
          <a:prstGeom prst="rect">
            <a:avLst/>
          </a:prstGeom>
          <a:solidFill>
            <a:srgbClr val="8B7355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005840"/>
            <a:ext cx="3566160" cy="3383280"/>
          </a:xfrm>
          <a:prstGeom prst="roundRect">
            <a:avLst>
              <a:gd name="adj" fmla="val 2703"/>
            </a:avLst>
          </a:prstGeom>
          <a:solidFill>
            <a:srgbClr val="FAFAF8"/>
          </a:solidFill>
          <a:ln w="12700">
            <a:solidFill>
              <a:srgbClr val="E8E4D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05840"/>
            <a:ext cx="3566160" cy="457200"/>
          </a:xfrm>
          <a:prstGeom prst="roundRect">
            <a:avLst>
              <a:gd name="adj" fmla="val 20000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1078992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clothing_items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0040" y="150876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 TEXT PK (UUID)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20040" y="192024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name, brand, category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20040" y="233172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colors, seasons, occasions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20040" y="274320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purchase_price REAL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20040" y="315468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image_path, thumbnail_path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20040" y="356616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status, is_favorite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20040" y="397764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created_at, updated_at INT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114800" y="1005840"/>
            <a:ext cx="3566160" cy="2971800"/>
          </a:xfrm>
          <a:prstGeom prst="roundRect">
            <a:avLst>
              <a:gd name="adj" fmla="val 3077"/>
            </a:avLst>
          </a:prstGeom>
          <a:solidFill>
            <a:srgbClr val="FAFAF8"/>
          </a:solidFill>
          <a:ln w="12700">
            <a:solidFill>
              <a:srgbClr val="E8E4D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0" y="1005840"/>
            <a:ext cx="3566160" cy="457200"/>
          </a:xfrm>
          <a:prstGeom prst="roundRect">
            <a:avLst>
              <a:gd name="adj" fmla="val 20000"/>
            </a:avLst>
          </a:prstGeom>
          <a:solidFill>
            <a:srgbClr val="8B7355"/>
          </a:solidFill>
          <a:ln w="12700">
            <a:solidFill>
              <a:srgbClr val="8B73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24528" y="1078992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outfits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160520" y="150876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 TEXT PK (UUID)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160520" y="192024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name, description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160520" y="233172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seasons, occasions TEXT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160520" y="274320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cover_image_path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160520" y="315468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is_favorite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160520" y="356616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created_at, updated_at INT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955280" y="1005840"/>
            <a:ext cx="3566160" cy="2148840"/>
          </a:xfrm>
          <a:prstGeom prst="roundRect">
            <a:avLst>
              <a:gd name="adj" fmla="val 4255"/>
            </a:avLst>
          </a:prstGeom>
          <a:solidFill>
            <a:srgbClr val="FAFAF8"/>
          </a:solidFill>
          <a:ln w="12700">
            <a:solidFill>
              <a:srgbClr val="E8E4D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955280" y="1005840"/>
            <a:ext cx="3566160" cy="457200"/>
          </a:xfrm>
          <a:prstGeom prst="roundRect">
            <a:avLst>
              <a:gd name="adj" fmla="val 20000"/>
            </a:avLst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065008" y="1078992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outfit_clothing_items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001000" y="150876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outfit_id FK-&gt;outfits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001000" y="192024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clothing_item_id FK-&gt;items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8001000" y="233172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sort_order INT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8001000" y="274320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PK (outfit_id, item_id)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74320" y="3931920"/>
            <a:ext cx="3566160" cy="2560320"/>
          </a:xfrm>
          <a:prstGeom prst="roundRect">
            <a:avLst>
              <a:gd name="adj" fmla="val 3571"/>
            </a:avLst>
          </a:prstGeom>
          <a:solidFill>
            <a:srgbClr val="FAFAF8"/>
          </a:solidFill>
          <a:ln w="12700">
            <a:solidFill>
              <a:srgbClr val="E8E4D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931920"/>
            <a:ext cx="3566160" cy="457200"/>
          </a:xfrm>
          <a:prstGeom prst="roundRect">
            <a:avLst>
              <a:gd name="adj" fmla="val 20000"/>
            </a:avLst>
          </a:prstGeom>
          <a:solidFill>
            <a:srgbClr val="4A6741"/>
          </a:solidFill>
          <a:ln w="12700">
            <a:solidFill>
              <a:srgbClr val="4A674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84048" y="4005072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wear_records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20040" y="443484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 TEXT PK (UUID)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320040" y="484632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outfit_id FK (nullable)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320040" y="525780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worn_at INT (indexed)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320040" y="566928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occasion, weather, notes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320040" y="608076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created_at INT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114800" y="3931920"/>
            <a:ext cx="3566160" cy="1737360"/>
          </a:xfrm>
          <a:prstGeom prst="roundRect">
            <a:avLst>
              <a:gd name="adj" fmla="val 5263"/>
            </a:avLst>
          </a:prstGeom>
          <a:solidFill>
            <a:srgbClr val="FAFAF8"/>
          </a:solidFill>
          <a:ln w="12700">
            <a:solidFill>
              <a:srgbClr val="E8E4D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114800" y="3931920"/>
            <a:ext cx="3566160" cy="457200"/>
          </a:xfrm>
          <a:prstGeom prst="roundRect">
            <a:avLst>
              <a:gd name="adj" fmla="val 20000"/>
            </a:avLst>
          </a:prstGeom>
          <a:solidFill>
            <a:srgbClr val="6B5B3E"/>
          </a:solidFill>
          <a:ln w="12700">
            <a:solidFill>
              <a:srgbClr val="6B5B3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224528" y="4005072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wear_record_items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4160520" y="443484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wear_record_id FK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4160520" y="484632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clothing_item_id FK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4160520" y="525780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PK (record_id, item_id)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7863840" y="39319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</a:rPr>
              <a:t>• UUID 主键 -&gt; Supabase 兼容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7863840" y="44348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</a:rPr>
              <a:t>• 多值字段逗号拼接 TEXT，TypeConverter 转换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7863840" y="49377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</a:rPr>
              <a:t>• CASCADE：删单品清关联，保留穿着历史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7863840" y="54406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</a:rPr>
              <a:t>• 时间存 INTEGER(ms)，SQLite 无原生 DATE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8B73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6576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</a:rPr>
              <a:t>07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365760" y="182880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UI/UX 规范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365760" y="31089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配色、字体、交互模式</a:t>
            </a:r>
            <a:endParaRPr lang="en-US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2F0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2D2D"/>
                </a:solidFill>
              </a:rPr>
              <a:t>UI/UX 设计规范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2743200" cy="45720"/>
          </a:xfrm>
          <a:prstGeom prst="rect">
            <a:avLst/>
          </a:prstGeom>
          <a:solidFill>
            <a:srgbClr val="8B735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0584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D2D"/>
                </a:solidFill>
              </a:rPr>
              <a:t>配色方案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804672" cy="804672"/>
          </a:xfrm>
          <a:prstGeom prst="roundRect">
            <a:avLst>
              <a:gd name="adj" fmla="val 9091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2322576"/>
            <a:ext cx="896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2D2D"/>
                </a:solidFill>
              </a:rPr>
              <a:t>炭黑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0040" y="2596896"/>
            <a:ext cx="8961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B6B"/>
                </a:solidFill>
              </a:rPr>
              <a:t>主色/按钮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298448" y="1463040"/>
            <a:ext cx="804672" cy="804672"/>
          </a:xfrm>
          <a:prstGeom prst="roundRect">
            <a:avLst>
              <a:gd name="adj" fmla="val 9091"/>
            </a:avLst>
          </a:prstGeom>
          <a:solidFill>
            <a:srgbClr val="F2F0ED"/>
          </a:solidFill>
          <a:ln w="12700">
            <a:solidFill>
              <a:srgbClr val="E8E4D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52728" y="2322576"/>
            <a:ext cx="896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2D2D"/>
                </a:solidFill>
              </a:rPr>
              <a:t>暖浅灰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252728" y="2596896"/>
            <a:ext cx="8961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B6B"/>
                </a:solidFill>
              </a:rPr>
              <a:t>背景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231136" y="1463040"/>
            <a:ext cx="804672" cy="804672"/>
          </a:xfrm>
          <a:prstGeom prst="roundRect">
            <a:avLst>
              <a:gd name="adj" fmla="val 9091"/>
            </a:avLst>
          </a:prstGeom>
          <a:solidFill>
            <a:srgbClr val="FAFAF8"/>
          </a:solidFill>
          <a:ln w="12700">
            <a:solidFill>
              <a:srgbClr val="E8E4D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85416" y="2322576"/>
            <a:ext cx="896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2D2D"/>
                </a:solidFill>
              </a:rPr>
              <a:t>暖白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185416" y="2596896"/>
            <a:ext cx="8961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B6B"/>
                </a:solidFill>
              </a:rPr>
              <a:t>卡片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163824" y="1463040"/>
            <a:ext cx="804672" cy="804672"/>
          </a:xfrm>
          <a:prstGeom prst="roundRect">
            <a:avLst>
              <a:gd name="adj" fmla="val 9091"/>
            </a:avLst>
          </a:prstGeom>
          <a:solidFill>
            <a:srgbClr val="8B7355"/>
          </a:solidFill>
          <a:ln w="12700">
            <a:solidFill>
              <a:srgbClr val="8B73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18104" y="2322576"/>
            <a:ext cx="896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2D2D"/>
                </a:solidFill>
              </a:rPr>
              <a:t>沙棕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118104" y="2596896"/>
            <a:ext cx="8961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B6B"/>
                </a:solidFill>
              </a:rPr>
              <a:t>强调/FAB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096512" y="1463040"/>
            <a:ext cx="804672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8E4D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050792" y="2322576"/>
            <a:ext cx="896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2D2D"/>
                </a:solidFill>
              </a:rPr>
              <a:t>白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050792" y="2596896"/>
            <a:ext cx="8961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B6B"/>
                </a:solidFill>
              </a:rPr>
              <a:t>文字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029200" y="1463040"/>
            <a:ext cx="804672" cy="804672"/>
          </a:xfrm>
          <a:prstGeom prst="roundRect">
            <a:avLst>
              <a:gd name="adj" fmla="val 9091"/>
            </a:avLst>
          </a:prstGeom>
          <a:solidFill>
            <a:srgbClr val="6B6B6B"/>
          </a:solidFill>
          <a:ln w="12700">
            <a:solidFill>
              <a:srgbClr val="E8E4D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83480" y="2322576"/>
            <a:ext cx="896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2D2D"/>
                </a:solidFill>
              </a:rPr>
              <a:t>中灰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983480" y="2596896"/>
            <a:ext cx="8961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B6B"/>
                </a:solidFill>
              </a:rPr>
              <a:t>次要文字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7200" y="297180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D2D"/>
                </a:solidFill>
              </a:rPr>
              <a:t>字体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65760" y="3429000"/>
            <a:ext cx="5212080" cy="2468880"/>
          </a:xfrm>
          <a:prstGeom prst="roundRect">
            <a:avLst>
              <a:gd name="adj" fmla="val 3704"/>
            </a:avLst>
          </a:prstGeom>
          <a:solidFill>
            <a:srgbClr val="FAFAF8"/>
          </a:solidFill>
          <a:ln w="12700">
            <a:solidFill>
              <a:srgbClr val="E8E4D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356616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单品名大标题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3657600" y="36118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</a:rPr>
              <a:t>DM Serif Display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48640" y="4133088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Title 页面标题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3657600" y="417880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</a:rPr>
              <a:t>DM Sans SemiBold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48640" y="4700016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Body Text 正文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657600" y="4745736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</a:rPr>
              <a:t>DM Sans Regular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48640" y="5266944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 Date 标签日期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657600" y="5312664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</a:rPr>
              <a:t>DM Sans 13sp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943600" y="100584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D2D"/>
                </a:solidFill>
              </a:rPr>
              <a:t>关键交互模式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943600" y="15087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D2D"/>
                </a:solidFill>
              </a:rPr>
              <a:t>方格列表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943600" y="1828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</a:rPr>
              <a:t>统一正方形，2列 SliverGrid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943600" y="22860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D2D"/>
                </a:solidFill>
              </a:rPr>
              <a:t>Hero 动画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943600" y="2606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</a:rPr>
              <a:t>单品图列表→详情页平滑展开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943600" y="30632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D2D"/>
                </a:solidFill>
              </a:rPr>
              <a:t>长按菜单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943600" y="33832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</a:rPr>
              <a:t>编辑/记录穿着/归档/删除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943600" y="38404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D2D"/>
                </a:solidFill>
              </a:rPr>
              <a:t>骨架屏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5943600" y="4160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</a:rPr>
              <a:t>列表加载时 Shimmer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943600" y="46177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D2D"/>
                </a:solidFill>
              </a:rPr>
              <a:t>Modal Sheet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5943600" y="4937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</a:rPr>
              <a:t>记录 Tab 底部弹窗，不离开 Tab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943600" y="53949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D2D"/>
                </a:solidFill>
              </a:rPr>
              <a:t>触觉反馈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5943600" y="57150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</a:rPr>
              <a:t>HapticFeedback.mediumImpact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8B73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6576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</a:rPr>
              <a:t>08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365760" y="182880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实现路线图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365760" y="31089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Phase 1 MVP -&gt; Phase 2 打磨 -&gt; Phase 3 云同步</a:t>
            </a:r>
            <a:endParaRPr lang="en-US" sz="2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2F0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2D2D"/>
                </a:solidFill>
              </a:rPr>
              <a:t>实现路线图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2286000" cy="45720"/>
          </a:xfrm>
          <a:prstGeom prst="rect">
            <a:avLst/>
          </a:prstGeom>
          <a:solidFill>
            <a:srgbClr val="8B7355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1005840"/>
            <a:ext cx="3611880" cy="5394960"/>
          </a:xfrm>
          <a:prstGeom prst="roundRect">
            <a:avLst>
              <a:gd name="adj" fmla="val 3038"/>
            </a:avLst>
          </a:prstGeom>
          <a:solidFill>
            <a:srgbClr val="FAFAF8"/>
          </a:solidFill>
          <a:ln w="12700">
            <a:solidFill>
              <a:srgbClr val="E8E4D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005840"/>
            <a:ext cx="3611880" cy="914400"/>
          </a:xfrm>
          <a:prstGeom prst="roundRect">
            <a:avLst>
              <a:gd name="adj" fmla="val 12000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51560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</a:rPr>
              <a:t>Phase 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MVP 核心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971800" y="1371600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DDDDDD"/>
                </a:solidFill>
              </a:rPr>
              <a:t>4 周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2267712"/>
            <a:ext cx="201168" cy="201168"/>
          </a:xfrm>
          <a:prstGeom prst="ellipse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2084832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</a:rPr>
              <a:t>Week 1: 项目初始化，Drift DB，ImageService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" y="3182112"/>
            <a:ext cx="201168" cy="201168"/>
          </a:xfrm>
          <a:prstGeom prst="ellipse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5528" y="2999232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</a:rPr>
              <a:t>Week 2: 衣橱列表/添加/编辑/详情页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4096512"/>
            <a:ext cx="201168" cy="201168"/>
          </a:xfrm>
          <a:prstGeom prst="ellipse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5528" y="3913632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</a:rPr>
              <a:t>Week 3: 搭配功能 (JOIN + ItemPicker)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" y="5010912"/>
            <a:ext cx="201168" cy="201168"/>
          </a:xfrm>
          <a:prstGeom prst="ellipse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95528" y="4828032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</a:rPr>
              <a:t>Week 4: 穿着记录 + 基础统计 + 设置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114800" y="1005840"/>
            <a:ext cx="3611880" cy="5394960"/>
          </a:xfrm>
          <a:prstGeom prst="roundRect">
            <a:avLst>
              <a:gd name="adj" fmla="val 3038"/>
            </a:avLst>
          </a:prstGeom>
          <a:solidFill>
            <a:srgbClr val="FAFAF8"/>
          </a:solidFill>
          <a:ln w="12700">
            <a:solidFill>
              <a:srgbClr val="E8E4D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114800" y="1005840"/>
            <a:ext cx="3611880" cy="914400"/>
          </a:xfrm>
          <a:prstGeom prst="roundRect">
            <a:avLst>
              <a:gd name="adj" fmla="val 12000"/>
            </a:avLst>
          </a:prstGeom>
          <a:solidFill>
            <a:srgbClr val="8B7355"/>
          </a:solidFill>
          <a:ln w="12700">
            <a:solidFill>
              <a:srgbClr val="8B73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51960" y="1051560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</a:rPr>
              <a:t>Phase 2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251960" y="137160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统计强化 + 体验打磨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766560" y="1371600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DDDDDD"/>
                </a:solidFill>
              </a:rPr>
              <a:t>3 周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297680" y="2267712"/>
            <a:ext cx="201168" cy="201168"/>
          </a:xfrm>
          <a:prstGeom prst="ellipse">
            <a:avLst/>
          </a:prstGeom>
          <a:solidFill>
            <a:srgbClr val="8B7355"/>
          </a:solidFill>
          <a:ln w="12700">
            <a:solidFill>
              <a:srgbClr val="8B73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90288" y="2084832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</a:rPr>
              <a:t>fl_chart 穿频柱状图/品类饼图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297680" y="3182112"/>
            <a:ext cx="201168" cy="201168"/>
          </a:xfrm>
          <a:prstGeom prst="ellipse">
            <a:avLst/>
          </a:prstGeom>
          <a:solidFill>
            <a:srgbClr val="8B7355"/>
          </a:solidFill>
          <a:ln w="12700">
            <a:solidFill>
              <a:srgbClr val="8B735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90288" y="2999232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</a:rPr>
              <a:t>高级筛选面板 + 搜索防抖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297680" y="4096512"/>
            <a:ext cx="201168" cy="201168"/>
          </a:xfrm>
          <a:prstGeom prst="ellipse">
            <a:avLst/>
          </a:prstGeom>
          <a:solidFill>
            <a:srgbClr val="8B7355"/>
          </a:solidFill>
          <a:ln w="12700">
            <a:solidFill>
              <a:srgbClr val="8B735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90288" y="3913632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</a:rPr>
              <a:t>骨架屏/触觉反馈/空状态插图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297680" y="5010912"/>
            <a:ext cx="201168" cy="201168"/>
          </a:xfrm>
          <a:prstGeom prst="ellipse">
            <a:avLst/>
          </a:prstGeom>
          <a:solidFill>
            <a:srgbClr val="8B7355"/>
          </a:solidFill>
          <a:ln w="12700">
            <a:solidFill>
              <a:srgbClr val="8B73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90288" y="4828032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</a:rPr>
              <a:t>引导页 (首次启动)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909560" y="1005840"/>
            <a:ext cx="3611880" cy="5394960"/>
          </a:xfrm>
          <a:prstGeom prst="roundRect">
            <a:avLst>
              <a:gd name="adj" fmla="val 3038"/>
            </a:avLst>
          </a:prstGeom>
          <a:solidFill>
            <a:srgbClr val="FAFAF8"/>
          </a:solidFill>
          <a:ln w="12700">
            <a:solidFill>
              <a:srgbClr val="E8E4D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909560" y="1005840"/>
            <a:ext cx="3611880" cy="914400"/>
          </a:xfrm>
          <a:prstGeom prst="roundRect">
            <a:avLst>
              <a:gd name="adj" fmla="val 12000"/>
            </a:avLst>
          </a:prstGeom>
          <a:solidFill>
            <a:srgbClr val="4A6741"/>
          </a:solidFill>
          <a:ln w="12700">
            <a:solidFill>
              <a:srgbClr val="4A674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046720" y="1051560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</a:rPr>
              <a:t>Phase 3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046720" y="137160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云同步 (可选)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10561320" y="1371600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DDDDDD"/>
                </a:solidFill>
              </a:rPr>
              <a:t>2 周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8092440" y="2267712"/>
            <a:ext cx="201168" cy="201168"/>
          </a:xfrm>
          <a:prstGeom prst="ellipse">
            <a:avLst/>
          </a:prstGeom>
          <a:solidFill>
            <a:srgbClr val="4A6741"/>
          </a:solidFill>
          <a:ln w="12700">
            <a:solidFill>
              <a:srgbClr val="4A674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385048" y="2084832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</a:rPr>
              <a:t>Supabase 表结构 (与本地 Schema 同构)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8092440" y="3182112"/>
            <a:ext cx="201168" cy="201168"/>
          </a:xfrm>
          <a:prstGeom prst="ellipse">
            <a:avLst/>
          </a:prstGeom>
          <a:solidFill>
            <a:srgbClr val="4A6741"/>
          </a:solidFill>
          <a:ln w="12700">
            <a:solidFill>
              <a:srgbClr val="4A674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385048" y="2999232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</a:rPr>
              <a:t>synced_at 字段迁移 + Delta 同步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8092440" y="4096512"/>
            <a:ext cx="201168" cy="201168"/>
          </a:xfrm>
          <a:prstGeom prst="ellipse">
            <a:avLst/>
          </a:prstGeom>
          <a:solidFill>
            <a:srgbClr val="4A6741"/>
          </a:solidFill>
          <a:ln w="12700">
            <a:solidFill>
              <a:srgbClr val="4A674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385048" y="3913632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</a:rPr>
              <a:t>Supabase Storage 图片上传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8092440" y="5010912"/>
            <a:ext cx="201168" cy="201168"/>
          </a:xfrm>
          <a:prstGeom prst="ellipse">
            <a:avLst/>
          </a:prstGeom>
          <a:solidFill>
            <a:srgbClr val="4A6741"/>
          </a:solidFill>
          <a:ln w="12700">
            <a:solidFill>
              <a:srgbClr val="4A674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385048" y="4828032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</a:rPr>
              <a:t>设置页认证 UI (邮箱登录)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8B73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6576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</a:rPr>
              <a:t>09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365760" y="182880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关键文件 &amp; 验证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365760" y="31089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五大核心文件 + 五项验证清单</a:t>
            </a:r>
            <a:endParaRPr lang="en-US" sz="2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2F0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2D2D"/>
                </a:solidFill>
              </a:rPr>
              <a:t>关键文件 &amp; 验证方式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3657600" cy="45720"/>
          </a:xfrm>
          <a:prstGeom prst="rect">
            <a:avLst/>
          </a:prstGeom>
          <a:solidFill>
            <a:srgbClr val="8B7355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60120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D2D"/>
                </a:solidFill>
              </a:rPr>
              <a:t>关键文件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5943600" cy="594360"/>
          </a:xfrm>
          <a:prstGeom prst="rect">
            <a:avLst/>
          </a:prstGeom>
          <a:solidFill>
            <a:srgbClr val="FAFAF8"/>
          </a:solidFill>
          <a:ln w="6350">
            <a:solidFill>
              <a:srgbClr val="E8E4D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4630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B73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app_database.dart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108960" y="146304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</a:rPr>
              <a:t>Schema 基础，所有功能依赖它，Week 1 必须完成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057400"/>
            <a:ext cx="59436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4D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10312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B73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image_service.dart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108960" y="210312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</a:rPr>
              <a:t>图片流水线，Phase 1 Week 1 核心，先稳定再扩展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697480"/>
            <a:ext cx="5943600" cy="594360"/>
          </a:xfrm>
          <a:prstGeom prst="rect">
            <a:avLst/>
          </a:prstGeom>
          <a:solidFill>
            <a:srgbClr val="FAFAF8"/>
          </a:solidFill>
          <a:ln w="6350">
            <a:solidFill>
              <a:srgbClr val="E8E4D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74320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B73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app_router.dart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108960" y="274320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</a:rPr>
              <a:t>ShellRoute + 全部路由，建立导航骨架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337560"/>
            <a:ext cx="59436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4D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3832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B73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wear_records_dao.dart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108960" y="338328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</a:rPr>
              <a:t>统计用复杂 SQL JOIN，直接决定统计功能质量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977640"/>
            <a:ext cx="5943600" cy="594360"/>
          </a:xfrm>
          <a:prstGeom prst="rect">
            <a:avLst/>
          </a:prstGeom>
          <a:solidFill>
            <a:srgbClr val="FAFAF8"/>
          </a:solidFill>
          <a:ln w="6350">
            <a:solidFill>
              <a:srgbClr val="E8E4D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40233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B73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wardrobe_provider.dart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108960" y="402336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</a:rPr>
              <a:t>Stream + Filter 组合模式，其他功能复用此模板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858000" y="96012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D2D"/>
                </a:solidFill>
              </a:rPr>
              <a:t>验证清单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766560" y="1417320"/>
            <a:ext cx="4663440" cy="914400"/>
          </a:xfrm>
          <a:prstGeom prst="roundRect">
            <a:avLst>
              <a:gd name="adj" fmla="val 8000"/>
            </a:avLst>
          </a:prstGeom>
          <a:solidFill>
            <a:srgbClr val="FAFAF8"/>
          </a:solidFill>
          <a:ln w="12700">
            <a:solidFill>
              <a:srgbClr val="E8E4D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03720" y="1481328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7355"/>
                </a:solidFill>
              </a:rPr>
              <a:t>V 功能验证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903720" y="1801368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</a:rPr>
              <a:t>5件衣服-&gt;2套搭配-&gt;3次记录-&gt;统计正确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766560" y="2423160"/>
            <a:ext cx="4663440" cy="914400"/>
          </a:xfrm>
          <a:prstGeom prst="roundRect">
            <a:avLst>
              <a:gd name="adj" fmla="val 8000"/>
            </a:avLst>
          </a:prstGeom>
          <a:solidFill>
            <a:srgbClr val="FAFAF8"/>
          </a:solidFill>
          <a:ln w="12700">
            <a:solidFill>
              <a:srgbClr val="E8E4D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03720" y="2487168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7355"/>
                </a:solidFill>
              </a:rPr>
              <a:t>V 图片验证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903720" y="2807208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</a:rPr>
              <a:t>_full/_thumb 双文件；删除后确认清理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766560" y="3429000"/>
            <a:ext cx="4663440" cy="914400"/>
          </a:xfrm>
          <a:prstGeom prst="roundRect">
            <a:avLst>
              <a:gd name="adj" fmla="val 8000"/>
            </a:avLst>
          </a:prstGeom>
          <a:solidFill>
            <a:srgbClr val="FAFAF8"/>
          </a:solidFill>
          <a:ln w="12700">
            <a:solidFill>
              <a:srgbClr val="E8E4D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03720" y="3493008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7355"/>
                </a:solidFill>
              </a:rPr>
              <a:t>V 性能验证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903720" y="3813048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</a:rPr>
              <a:t>100+件衣服列表 60fps (Flutter DevTools)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766560" y="4434840"/>
            <a:ext cx="4663440" cy="914400"/>
          </a:xfrm>
          <a:prstGeom prst="roundRect">
            <a:avLst>
              <a:gd name="adj" fmla="val 8000"/>
            </a:avLst>
          </a:prstGeom>
          <a:solidFill>
            <a:srgbClr val="FAFAF8"/>
          </a:solidFill>
          <a:ln w="12700">
            <a:solidFill>
              <a:srgbClr val="E8E4D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03720" y="4498848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7355"/>
                </a:solidFill>
              </a:rPr>
              <a:t>V 数据库验证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903720" y="4818888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</a:rPr>
              <a:t>DB Browser SQLite 确认 CASCADE 正常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766560" y="5440680"/>
            <a:ext cx="4663440" cy="914400"/>
          </a:xfrm>
          <a:prstGeom prst="roundRect">
            <a:avLst>
              <a:gd name="adj" fmla="val 8000"/>
            </a:avLst>
          </a:prstGeom>
          <a:solidFill>
            <a:srgbClr val="FAFAF8"/>
          </a:solidFill>
          <a:ln w="12700">
            <a:solidFill>
              <a:srgbClr val="E8E4D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903720" y="5504688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7355"/>
                </a:solidFill>
              </a:rPr>
              <a:t>V 统计验证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903720" y="5824728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</a:rPr>
              <a:t>手动计算 cost-per-wear 与 App 比对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2D2D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B735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准备好了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457200" y="30175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B7355"/>
                </a:solidFill>
              </a:rPr>
              <a:t>Flutter · Drift · Riverpod · 本地优先，随时可扩展云同步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88888"/>
                </a:solidFill>
              </a:rPr>
              <a:t>Phase 1 目标：4 周内完成可用 MVP，上线内测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2026-06-08T10:14:05Z</dcterms:created>
  <dcterms:modified xsi:type="dcterms:W3CDTF">2026-06-08T10:14:05Z</dcterms:modified>
</cp:coreProperties>
</file>
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50000" y="650000"/>
            <a:ext cx="10800000" cy="7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00" dirty="0">
                <a:solidFill>
                  <a:srgbClr val="9A6B42"/>
                </a:solidFill>
                <a:latin typeface="Aptos"/>
                <a:ea typeface="Microsoft YaHei"/>
              </a:rPr>
              <a:t>Digital Twin Wardrobe ? Product Design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650000" y="1750000"/>
            <a:ext cx="9800000" cy="115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4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 App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700000" y="3000000"/>
            <a:ext cx="9300000" cy="6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2200" dirty="0">
                <a:solidFill>
                  <a:srgbClr val="554D44"/>
                </a:solidFill>
                <a:latin typeface="Aptos"/>
                <a:ea typeface="Microsoft YaHei"/>
              </a:rPr>
              <a:t>?????????????????</a:t>
            </a:r>
          </a:p>
        </p:txBody>
      </p:sp>
      <p:sp>
        <p:nvSpPr>
          <p:cNvPr id="14" name="Box 14"/>
          <p:cNvSpPr txBox="1"/>
          <p:nvPr/>
        </p:nvSpPr>
        <p:spPr>
          <a:xfrm>
            <a:off x="700000" y="4550000"/>
            <a:ext cx="3300000" cy="760000"/>
          </a:xfrm>
          <a:prstGeom prst="roundRect">
            <a:avLst/>
          </a:prstGeom>
          <a:solidFill>
            <a:srgbClr val="1F1D1A"/>
          </a:solidFill>
          <a:ln w="8000">
            <a:solidFill>
              <a:srgbClr val="1F1D1A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FFFFFF"/>
                </a:solidFill>
                <a:b/>
                <a:latin typeface="Aptos"/>
                <a:ea typeface="Microsoft YaHei"/>
              </a:rPr>
              <a:t>???? ID</a:t>
            </a:r>
          </a:p>
          <a:p>
            <a:r>
              <a:rPr lang="zh-CN" sz="1750" dirty="0">
                <a:solidFill>
                  <a:srgbClr val="FFFFFF"/>
                </a:solidFill>
                <a:b/>
                <a:latin typeface="Aptos"/>
                <a:ea typeface="Microsoft YaHei"/>
              </a:rPr>
              <a:t>+ ?????</a:t>
            </a:r>
          </a:p>
        </p:txBody>
      </p:sp>
      <p:sp>
        <p:nvSpPr>
          <p:cNvPr id="15" name="Box 15"/>
          <p:cNvSpPr txBox="1"/>
          <p:nvPr/>
        </p:nvSpPr>
        <p:spPr>
          <a:xfrm>
            <a:off x="4300000" y="4550000"/>
            <a:ext cx="3000000" cy="760000"/>
          </a:xfrm>
          <a:prstGeom prst="roundRect">
            <a:avLst/>
          </a:prstGeom>
          <a:solidFill>
            <a:srgbClr val="8A6A4F"/>
          </a:solidFill>
          <a:ln w="8000">
            <a:solidFill>
              <a:srgbClr val="8A6A4F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FFFFFF"/>
                </a:solidFill>
                <a:b/>
                <a:latin typeface="Aptos"/>
                <a:ea typeface="Microsoft YaHei"/>
              </a:rPr>
              <a:t>???</a:t>
            </a:r>
          </a:p>
          <a:p>
            <a:r>
              <a:rPr lang="zh-CN" sz="1750" dirty="0">
                <a:solidFill>
                  <a:srgbClr val="FFFFFF"/>
                </a:solidFill>
                <a:b/>
                <a:latin typeface="Aptos"/>
                <a:ea typeface="Microsoft YaHei"/>
              </a:rPr>
              <a:t>+ ????</a:t>
            </a:r>
          </a:p>
        </p:txBody>
      </p:sp>
      <p:sp>
        <p:nvSpPr>
          <p:cNvPr id="16" name="Box 16"/>
          <p:cNvSpPr txBox="1"/>
          <p:nvPr/>
        </p:nvSpPr>
        <p:spPr>
          <a:xfrm>
            <a:off x="7500000" y="4550000"/>
            <a:ext cx="3300000" cy="760000"/>
          </a:xfrm>
          <a:prstGeom prst="roundRect">
            <a:avLst/>
          </a:prstGeom>
          <a:solidFill>
            <a:srgbClr val="315C5B"/>
          </a:solidFill>
          <a:ln w="8000">
            <a:solidFill>
              <a:srgbClr val="315C5B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FFFFFF"/>
                </a:solidFill>
                <a:b/>
                <a:latin typeface="Aptos"/>
                <a:ea typeface="Microsoft YaHei"/>
              </a:rPr>
              <a:t>NFC / QR</a:t>
            </a:r>
          </a:p>
          <a:p>
            <a:r>
              <a:rPr lang="zh-CN" sz="1750" dirty="0">
                <a:solidFill>
                  <a:srgbClr val="FFFFFF"/>
                </a:solidFill>
                <a:b/>
                <a:latin typeface="Aptos"/>
                <a:ea typeface="Microsoft YaHei"/>
              </a:rPr>
              <a:t>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900000" y="1850000"/>
            <a:ext cx="10400000" cy="105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42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01 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950000" y="3100000"/>
            <a:ext cx="9300000" cy="7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2350" dirty="0">
                <a:solidFill>
                  <a:srgbClr val="6C6258"/>
                </a:solidFill>
                <a:latin typeface="Aptos"/>
                <a:ea typeface="Microsoft YaHei"/>
              </a:rPr>
              <a:t>??????????????????????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950000" y="4300000"/>
            <a:ext cx="2400000" cy="100000"/>
          </a:xfrm>
          <a:prstGeom prst="rect">
            <a:avLst/>
          </a:prstGeom>
          <a:solidFill>
            <a:srgbClr val="9A6B42"/>
          </a:solidFill>
          <a:ln w="8000">
            <a:solidFill>
              <a:srgbClr val="9A6B42"/>
            </a:solidFill>
          </a:ln>
        </p:spPr>
        <p:txBody>
          <a:bodyPr wrap="square" lIns="180000" tIns="130000" rIns="180000" bIns="130000"/>
          <a:lstStyle/>
          <a:p>
            <a:r>
              <a:rPr lang="zh-CN" sz="1000" dirty="0">
                <a:solidFill>
                  <a:srgbClr val="2B2926"/>
                </a:solidFill>
                <a:latin typeface="Aptos"/>
                <a:ea typeface="Microsoft YaHe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850000" y="1750000"/>
            <a:ext cx="10500000" cy="410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E1D9CE"/>
            </a:solidFill>
          </a:ln>
        </p:spPr>
        <p:txBody>
          <a:bodyPr wrap="square" lIns="180000" tIns="130000" rIns="180000" bIns="130000"/>
          <a:lstStyle/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 App??? Flutter + Drift/SQLite + Riverpod 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????????????????????????????????????????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????????????????????????????NFC/???????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?????????????????????????????????????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900000" y="1850000"/>
            <a:ext cx="10400000" cy="105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42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02 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950000" y="3100000"/>
            <a:ext cx="9300000" cy="7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2350" dirty="0">
                <a:solidFill>
                  <a:srgbClr val="6C6258"/>
                </a:solidFill>
                <a:latin typeface="Aptos"/>
                <a:ea typeface="Microsoft YaHei"/>
              </a:rPr>
              <a:t>???????????????????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950000" y="4300000"/>
            <a:ext cx="2400000" cy="100000"/>
          </a:xfrm>
          <a:prstGeom prst="rect">
            <a:avLst/>
          </a:prstGeom>
          <a:solidFill>
            <a:srgbClr val="9A6B42"/>
          </a:solidFill>
          <a:ln w="8000">
            <a:solidFill>
              <a:srgbClr val="9A6B42"/>
            </a:solidFill>
          </a:ln>
        </p:spPr>
        <p:txBody>
          <a:bodyPr wrap="square" lIns="180000" tIns="130000" rIns="180000" bIns="130000"/>
          <a:lstStyle/>
          <a:p>
            <a:r>
              <a:rPr lang="zh-CN" sz="1000" dirty="0">
                <a:solidFill>
                  <a:srgbClr val="2B2926"/>
                </a:solidFill>
                <a:latin typeface="Aptos"/>
                <a:ea typeface="Microsoft YaHe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850000" y="1700000"/>
            <a:ext cx="5000000" cy="38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E1D9CE"/>
            </a:solidFill>
          </a:ln>
        </p:spPr>
        <p:txBody>
          <a:bodyPr wrap="square" lIns="180000" tIns="130000" rIns="180000" bIns="130000"/>
          <a:lstStyle/>
          <a:p>
            <a:r>
              <a:rPr lang="zh-CN" sz="23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?????????</a:t>
            </a:r>
          </a:p>
          <a:p>
            <a:r>
              <a:rPr lang="zh-CN" sz="1900" dirty="0">
                <a:solidFill>
                  <a:srgbClr val="2B2926"/>
                </a:solidFill>
                <a:latin typeface="Aptos"/>
                <a:ea typeface="Microsoft YaHei"/>
              </a:rPr>
              <a:t>? ????</a:t>
            </a:r>
          </a:p>
          <a:p>
            <a:r>
              <a:rPr lang="zh-CN" sz="1900" dirty="0">
                <a:solidFill>
                  <a:srgbClr val="2B2926"/>
                </a:solidFill>
                <a:latin typeface="Aptos"/>
                <a:ea typeface="Microsoft YaHei"/>
              </a:rPr>
              <a:t>? ????</a:t>
            </a:r>
          </a:p>
          <a:p>
            <a:r>
              <a:rPr lang="zh-CN" sz="1900" dirty="0">
                <a:solidFill>
                  <a:srgbClr val="2B2926"/>
                </a:solidFill>
                <a:latin typeface="Aptos"/>
                <a:ea typeface="Microsoft YaHei"/>
              </a:rPr>
              <a:t>? ????</a:t>
            </a:r>
          </a:p>
          <a:p>
            <a:r>
              <a:rPr lang="zh-CN" sz="1900" dirty="0">
                <a:solidFill>
                  <a:srgbClr val="2B2926"/>
                </a:solidFill>
                <a:latin typeface="Aptos"/>
                <a:ea typeface="Microsoft YaHei"/>
              </a:rPr>
              <a:t>? 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6350000" y="1700000"/>
            <a:ext cx="5000000" cy="3850000"/>
          </a:xfrm>
          <a:prstGeom prst="roundRect">
            <a:avLst/>
          </a:prstGeom>
          <a:solidFill>
            <a:srgbClr val="EAF2EF"/>
          </a:solidFill>
          <a:ln w="8000">
            <a:solidFill>
              <a:srgbClr val="BFD2CC"/>
            </a:solidFill>
          </a:ln>
        </p:spPr>
        <p:txBody>
          <a:bodyPr wrap="square" lIns="180000" tIns="130000" rIns="180000" bIns="130000"/>
          <a:lstStyle/>
          <a:p>
            <a:r>
              <a:rPr lang="zh-CN" sz="23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????????</a:t>
            </a:r>
          </a:p>
          <a:p>
            <a:r>
              <a:rPr lang="zh-CN" sz="1900" dirty="0">
                <a:solidFill>
                  <a:srgbClr val="2B2926"/>
                </a:solidFill>
                <a:latin typeface="Aptos"/>
                <a:ea typeface="Microsoft YaHei"/>
              </a:rPr>
              <a:t>? ????????</a:t>
            </a:r>
          </a:p>
          <a:p>
            <a:r>
              <a:rPr lang="zh-CN" sz="1900" dirty="0">
                <a:solidFill>
                  <a:srgbClr val="2B2926"/>
                </a:solidFill>
                <a:latin typeface="Aptos"/>
                <a:ea typeface="Microsoft YaHei"/>
              </a:rPr>
              <a:t>? ??????????</a:t>
            </a:r>
          </a:p>
          <a:p>
            <a:r>
              <a:rPr lang="zh-CN" sz="1900" dirty="0">
                <a:solidFill>
                  <a:srgbClr val="2B2926"/>
                </a:solidFill>
                <a:latin typeface="Aptos"/>
                <a:ea typeface="Microsoft YaHei"/>
              </a:rPr>
              <a:t>? ????????</a:t>
            </a:r>
          </a:p>
          <a:p>
            <a:r>
              <a:rPr lang="zh-CN" sz="1900" dirty="0">
                <a:solidFill>
                  <a:srgbClr val="2B2926"/>
                </a:solidFill>
                <a:latin typeface="Aptos"/>
                <a:ea typeface="Microsoft YaHei"/>
              </a:rPr>
              <a:t>? ??????????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850000" y="1750000"/>
            <a:ext cx="10500000" cy="410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E1D9CE"/>
            </a:solidFill>
          </a:ln>
        </p:spPr>
        <p:txBody>
          <a:bodyPr wrap="square" lIns="180000" tIns="130000" rIns="180000" bIns="130000"/>
          <a:lstStyle/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 Item Instance???????????????SKU 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 T????????? physical_instance_id?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 AI ????????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900000" y="1850000"/>
            <a:ext cx="10400000" cy="105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42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03 ??? Twin Mapping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950000" y="3100000"/>
            <a:ext cx="9300000" cy="7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2350" dirty="0">
                <a:solidFill>
                  <a:srgbClr val="6C6258"/>
                </a:solidFill>
                <a:latin typeface="Aptos"/>
                <a:ea typeface="Microsoft YaHei"/>
              </a:rPr>
              <a:t>????????????????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950000" y="4300000"/>
            <a:ext cx="2400000" cy="100000"/>
          </a:xfrm>
          <a:prstGeom prst="rect">
            <a:avLst/>
          </a:prstGeom>
          <a:solidFill>
            <a:srgbClr val="9A6B42"/>
          </a:solidFill>
          <a:ln w="8000">
            <a:solidFill>
              <a:srgbClr val="9A6B42"/>
            </a:solidFill>
          </a:ln>
        </p:spPr>
        <p:txBody>
          <a:bodyPr wrap="square" lIns="180000" tIns="130000" rIns="180000" bIns="130000"/>
          <a:lstStyle/>
          <a:p>
            <a:r>
              <a:rPr lang="zh-CN" sz="1000" dirty="0">
                <a:solidFill>
                  <a:srgbClr val="2B2926"/>
                </a:solidFill>
                <a:latin typeface="Aptos"/>
                <a:ea typeface="Microsoft YaHe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650000" y="1700000"/>
            <a:ext cx="3300000" cy="38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21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Level 1 ???</a:t>
            </a:r>
          </a:p>
          <a:p>
            <a:r>
              <a:rPr lang="zh-CN" sz="1720" dirty="0">
                <a:solidFill>
                  <a:srgbClr val="2B2926"/>
                </a:solidFill>
                <a:latin typeface="Aptos"/>
                <a:ea typeface="Microsoft YaHei"/>
              </a:rPr>
              <a:t>? ?? + ????</a:t>
            </a:r>
          </a:p>
          <a:p>
            <a:r>
              <a:rPr lang="zh-CN" sz="1720" dirty="0">
                <a:solidFill>
                  <a:srgbClr val="2B2926"/>
                </a:solidFill>
                <a:latin typeface="Aptos"/>
                <a:ea typeface="Microsoft YaHei"/>
              </a:rPr>
              <a:t>? ??????</a:t>
            </a:r>
          </a:p>
          <a:p>
            <a:r>
              <a:rPr lang="zh-CN" sz="1720" dirty="0">
                <a:solidFill>
                  <a:srgbClr val="2B2926"/>
                </a:solidFill>
                <a:latin typeface="Aptos"/>
                <a:ea typeface="Microsoft YaHei"/>
              </a:rPr>
              <a:t>? 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4450000" y="1700000"/>
            <a:ext cx="3300000" cy="3850000"/>
          </a:xfrm>
          <a:prstGeom prst="roundRect">
            <a:avLst/>
          </a:prstGeom>
          <a:solidFill>
            <a:srgbClr val="FFF7E8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21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Level 2 ????</a:t>
            </a:r>
          </a:p>
          <a:p>
            <a:r>
              <a:rPr lang="zh-CN" sz="1720" dirty="0">
                <a:solidFill>
                  <a:srgbClr val="2B2926"/>
                </a:solidFill>
                <a:latin typeface="Aptos"/>
                <a:ea typeface="Microsoft YaHei"/>
              </a:rPr>
              <a:t>? ?????</a:t>
            </a:r>
          </a:p>
          <a:p>
            <a:r>
              <a:rPr lang="zh-CN" sz="1720" dirty="0">
                <a:solidFill>
                  <a:srgbClr val="2B2926"/>
                </a:solidFill>
                <a:latin typeface="Aptos"/>
                <a:ea typeface="Microsoft YaHei"/>
              </a:rPr>
              <a:t>? ??/??/????</a:t>
            </a:r>
          </a:p>
          <a:p>
            <a:r>
              <a:rPr lang="zh-CN" sz="1720" dirty="0">
                <a:solidFill>
                  <a:srgbClr val="2B2926"/>
                </a:solidFill>
                <a:latin typeface="Aptos"/>
                <a:ea typeface="Microsoft YaHei"/>
              </a:rPr>
              <a:t>? ????? + ????</a:t>
            </a:r>
          </a:p>
        </p:txBody>
      </p:sp>
      <p:sp>
        <p:nvSpPr>
          <p:cNvPr id="14" name="Box 14"/>
          <p:cNvSpPr txBox="1"/>
          <p:nvPr/>
        </p:nvSpPr>
        <p:spPr>
          <a:xfrm>
            <a:off x="8250000" y="1700000"/>
            <a:ext cx="3300000" cy="3850000"/>
          </a:xfrm>
          <a:prstGeom prst="roundRect">
            <a:avLst/>
          </a:prstGeom>
          <a:solidFill>
            <a:srgbClr val="EAF2E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21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Level 3 ???</a:t>
            </a:r>
          </a:p>
          <a:p>
            <a:r>
              <a:rPr lang="zh-CN" sz="1720" dirty="0">
                <a:solidFill>
                  <a:srgbClr val="2B2926"/>
                </a:solidFill>
                <a:latin typeface="Aptos"/>
                <a:ea typeface="Microsoft YaHei"/>
              </a:rPr>
              <a:t>? NFC / RFID / ???</a:t>
            </a:r>
          </a:p>
          <a:p>
            <a:r>
              <a:rPr lang="zh-CN" sz="1720" dirty="0">
                <a:solidFill>
                  <a:srgbClr val="2B2926"/>
                </a:solidFill>
                <a:latin typeface="Aptos"/>
                <a:ea typeface="Microsoft YaHei"/>
              </a:rPr>
              <a:t>? ???????</a:t>
            </a:r>
          </a:p>
          <a:p>
            <a:r>
              <a:rPr lang="zh-CN" sz="1720" dirty="0">
                <a:solidFill>
                  <a:srgbClr val="2B2926"/>
                </a:solidFill>
                <a:latin typeface="Aptos"/>
                <a:ea typeface="Microsoft YaHei"/>
              </a:rPr>
              <a:t>? ??????????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 Twin Confidence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850000" y="1750000"/>
            <a:ext cx="10500000" cy="410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E1D9CE"/>
            </a:solidFill>
          </a:ln>
        </p:spPr>
        <p:txBody>
          <a:bodyPr wrap="square" lIns="180000" tIns="130000" rIns="180000" bIns="130000"/>
          <a:lstStyle/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 twin_status ? twin_confidence???????????????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 NFC/?????????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????????????????????????????????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900000" y="1850000"/>
            <a:ext cx="10400000" cy="105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42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04 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950000" y="3100000"/>
            <a:ext cx="9300000" cy="7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2350" dirty="0">
                <a:solidFill>
                  <a:srgbClr val="6C6258"/>
                </a:solidFill>
                <a:latin typeface="Aptos"/>
                <a:ea typeface="Microsoft YaHei"/>
              </a:rPr>
              <a:t>??????????????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950000" y="4300000"/>
            <a:ext cx="2400000" cy="100000"/>
          </a:xfrm>
          <a:prstGeom prst="rect">
            <a:avLst/>
          </a:prstGeom>
          <a:solidFill>
            <a:srgbClr val="9A6B42"/>
          </a:solidFill>
          <a:ln w="8000">
            <a:solidFill>
              <a:srgbClr val="9A6B42"/>
            </a:solidFill>
          </a:ln>
        </p:spPr>
        <p:txBody>
          <a:bodyPr wrap="square" lIns="180000" tIns="130000" rIns="180000" bIns="130000"/>
          <a:lstStyle/>
          <a:p>
            <a:r>
              <a:rPr lang="zh-CN" sz="1000" dirty="0">
                <a:solidFill>
                  <a:srgbClr val="2B2926"/>
                </a:solidFill>
                <a:latin typeface="Aptos"/>
                <a:ea typeface="Microsoft YaHe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5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1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21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14" name="Box 14"/>
          <p:cNvSpPr txBox="1"/>
          <p:nvPr/>
        </p:nvSpPr>
        <p:spPr>
          <a:xfrm>
            <a:off x="23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2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</a:t>
            </a:r>
          </a:p>
        </p:txBody>
      </p:sp>
      <p:sp>
        <p:nvSpPr>
          <p:cNvPr id="15" name="Box 15"/>
          <p:cNvSpPr txBox="1"/>
          <p:nvPr/>
        </p:nvSpPr>
        <p:spPr>
          <a:xfrm>
            <a:off x="39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16" name="Box 16"/>
          <p:cNvSpPr txBox="1"/>
          <p:nvPr/>
        </p:nvSpPr>
        <p:spPr>
          <a:xfrm>
            <a:off x="41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3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</a:t>
            </a:r>
          </a:p>
        </p:txBody>
      </p:sp>
      <p:sp>
        <p:nvSpPr>
          <p:cNvPr id="17" name="Box 17"/>
          <p:cNvSpPr txBox="1"/>
          <p:nvPr/>
        </p:nvSpPr>
        <p:spPr>
          <a:xfrm>
            <a:off x="57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18" name="Box 18"/>
          <p:cNvSpPr txBox="1"/>
          <p:nvPr/>
        </p:nvSpPr>
        <p:spPr>
          <a:xfrm>
            <a:off x="59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4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  <p:sp>
        <p:nvSpPr>
          <p:cNvPr id="19" name="Box 19"/>
          <p:cNvSpPr txBox="1"/>
          <p:nvPr/>
        </p:nvSpPr>
        <p:spPr>
          <a:xfrm>
            <a:off x="75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20" name="Box 20"/>
          <p:cNvSpPr txBox="1"/>
          <p:nvPr/>
        </p:nvSpPr>
        <p:spPr>
          <a:xfrm>
            <a:off x="77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5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  <p:sp>
        <p:nvSpPr>
          <p:cNvPr id="21" name="Box 21"/>
          <p:cNvSpPr txBox="1"/>
          <p:nvPr/>
        </p:nvSpPr>
        <p:spPr>
          <a:xfrm>
            <a:off x="93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22" name="Box 22"/>
          <p:cNvSpPr txBox="1"/>
          <p:nvPr/>
        </p:nvSpPr>
        <p:spPr>
          <a:xfrm>
            <a:off x="95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6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5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1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??/????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21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14" name="Box 14"/>
          <p:cNvSpPr txBox="1"/>
          <p:nvPr/>
        </p:nvSpPr>
        <p:spPr>
          <a:xfrm>
            <a:off x="23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2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  <p:sp>
        <p:nvSpPr>
          <p:cNvPr id="15" name="Box 15"/>
          <p:cNvSpPr txBox="1"/>
          <p:nvPr/>
        </p:nvSpPr>
        <p:spPr>
          <a:xfrm>
            <a:off x="39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16" name="Box 16"/>
          <p:cNvSpPr txBox="1"/>
          <p:nvPr/>
        </p:nvSpPr>
        <p:spPr>
          <a:xfrm>
            <a:off x="41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3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  <p:sp>
        <p:nvSpPr>
          <p:cNvPr id="17" name="Box 17"/>
          <p:cNvSpPr txBox="1"/>
          <p:nvPr/>
        </p:nvSpPr>
        <p:spPr>
          <a:xfrm>
            <a:off x="57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18" name="Box 18"/>
          <p:cNvSpPr txBox="1"/>
          <p:nvPr/>
        </p:nvSpPr>
        <p:spPr>
          <a:xfrm>
            <a:off x="59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4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????/??</a:t>
            </a:r>
          </a:p>
        </p:txBody>
      </p:sp>
      <p:sp>
        <p:nvSpPr>
          <p:cNvPr id="19" name="Box 19"/>
          <p:cNvSpPr txBox="1"/>
          <p:nvPr/>
        </p:nvSpPr>
        <p:spPr>
          <a:xfrm>
            <a:off x="75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20" name="Box 20"/>
          <p:cNvSpPr txBox="1"/>
          <p:nvPr/>
        </p:nvSpPr>
        <p:spPr>
          <a:xfrm>
            <a:off x="77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5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5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1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21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14" name="Box 14"/>
          <p:cNvSpPr txBox="1"/>
          <p:nvPr/>
        </p:nvSpPr>
        <p:spPr>
          <a:xfrm>
            <a:off x="23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2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????/??</a:t>
            </a:r>
          </a:p>
        </p:txBody>
      </p:sp>
      <p:sp>
        <p:nvSpPr>
          <p:cNvPr id="15" name="Box 15"/>
          <p:cNvSpPr txBox="1"/>
          <p:nvPr/>
        </p:nvSpPr>
        <p:spPr>
          <a:xfrm>
            <a:off x="39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16" name="Box 16"/>
          <p:cNvSpPr txBox="1"/>
          <p:nvPr/>
        </p:nvSpPr>
        <p:spPr>
          <a:xfrm>
            <a:off x="41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3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  <p:sp>
        <p:nvSpPr>
          <p:cNvPr id="17" name="Box 17"/>
          <p:cNvSpPr txBox="1"/>
          <p:nvPr/>
        </p:nvSpPr>
        <p:spPr>
          <a:xfrm>
            <a:off x="57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18" name="Box 18"/>
          <p:cNvSpPr txBox="1"/>
          <p:nvPr/>
        </p:nvSpPr>
        <p:spPr>
          <a:xfrm>
            <a:off x="59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4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????/??</a:t>
            </a:r>
          </a:p>
        </p:txBody>
      </p:sp>
      <p:sp>
        <p:nvSpPr>
          <p:cNvPr id="19" name="Box 19"/>
          <p:cNvSpPr txBox="1"/>
          <p:nvPr/>
        </p:nvSpPr>
        <p:spPr>
          <a:xfrm>
            <a:off x="7530000" y="2830000"/>
            <a:ext cx="250000" cy="2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1750" dirty="0">
                <a:solidFill>
                  <a:srgbClr val="9A6B42"/>
                </a:solidFill>
                <a:b/>
                <a:latin typeface="Aptos"/>
                <a:ea typeface="Microsoft YaHei"/>
              </a:rPr>
              <a:t>&gt;</a:t>
            </a:r>
          </a:p>
        </p:txBody>
      </p:sp>
      <p:sp>
        <p:nvSpPr>
          <p:cNvPr id="20" name="Box 20"/>
          <p:cNvSpPr txBox="1"/>
          <p:nvPr/>
        </p:nvSpPr>
        <p:spPr>
          <a:xfrm>
            <a:off x="7760000" y="2500000"/>
            <a:ext cx="1550000" cy="9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D8D1C7"/>
            </a:solidFill>
          </a:ln>
        </p:spPr>
        <p:txBody>
          <a:bodyPr wrap="square" lIns="180000" tIns="130000" rIns="180000" bIns="130000"/>
          <a:lstStyle/>
          <a:p>
            <a:r>
              <a:rPr lang="zh-CN" sz="1600" dirty="0">
                <a:solidFill>
                  <a:srgbClr val="9A6B42"/>
                </a:solidFill>
                <a:b/>
                <a:latin typeface="Aptos"/>
                <a:ea typeface="Microsoft YaHei"/>
              </a:rPr>
              <a:t>5</a:t>
            </a:r>
          </a:p>
          <a:p>
            <a:r>
              <a:rPr lang="zh-CN" sz="155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900000" y="1850000"/>
            <a:ext cx="10400000" cy="105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42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05 ??????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950000" y="3100000"/>
            <a:ext cx="9300000" cy="7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2350" dirty="0">
                <a:solidFill>
                  <a:srgbClr val="6C6258"/>
                </a:solidFill>
                <a:latin typeface="Aptos"/>
                <a:ea typeface="Microsoft YaHei"/>
              </a:rPr>
              <a:t>???????????????????????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950000" y="4300000"/>
            <a:ext cx="2400000" cy="100000"/>
          </a:xfrm>
          <a:prstGeom prst="rect">
            <a:avLst/>
          </a:prstGeom>
          <a:solidFill>
            <a:srgbClr val="9A6B42"/>
          </a:solidFill>
          <a:ln w="8000">
            <a:solidFill>
              <a:srgbClr val="9A6B42"/>
            </a:solidFill>
          </a:ln>
        </p:spPr>
        <p:txBody>
          <a:bodyPr wrap="square" lIns="180000" tIns="130000" rIns="180000" bIns="130000"/>
          <a:lstStyle/>
          <a:p>
            <a:r>
              <a:rPr lang="zh-CN" sz="1000" dirty="0">
                <a:solidFill>
                  <a:srgbClr val="2B2926"/>
                </a:solidFill>
                <a:latin typeface="Aptos"/>
                <a:ea typeface="Microsoft YaHei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700000" y="1600000"/>
            <a:ext cx="10800000" cy="430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E1D9CE"/>
            </a:solidFill>
          </a:ln>
        </p:spPr>
        <p:txBody>
          <a:bodyPr wrap="square" lIns="180000" tIns="130000" rIns="180000" bIns="130000"/>
          <a:lstStyle/>
          <a:p>
            <a:r>
              <a:rPr lang="zh-CN" sz="1880" dirty="0">
                <a:solidFill>
                  <a:srgbClr val="2B2926"/>
                </a:solidFill>
                <a:latin typeface="Aptos"/>
                <a:ea typeface="Microsoft YaHei"/>
              </a:rPr>
              <a:t>? clothing_items??? physical_instance_id?twin_status?twin_confidence?</a:t>
            </a:r>
          </a:p>
          <a:p>
            <a:r>
              <a:rPr lang="zh-CN" sz="1880" dirty="0">
                <a:solidFill>
                  <a:srgbClr val="2B2926"/>
                </a:solidFill>
                <a:latin typeface="Aptos"/>
                <a:ea typeface="Microsoft YaHei"/>
              </a:rPr>
              <a:t>? item_identity_evidence???????????????????????</a:t>
            </a:r>
          </a:p>
          <a:p>
            <a:r>
              <a:rPr lang="zh-CN" sz="1880" dirty="0">
                <a:solidFill>
                  <a:srgbClr val="2B2926"/>
                </a:solidFill>
                <a:latin typeface="Aptos"/>
                <a:ea typeface="Microsoft YaHei"/>
              </a:rPr>
              <a:t>? physical_anchors??? NFC/RFID/??????????</a:t>
            </a:r>
          </a:p>
          <a:p>
            <a:r>
              <a:rPr lang="zh-CN" sz="1880" dirty="0">
                <a:solidFill>
                  <a:srgbClr val="2B2926"/>
                </a:solidFill>
                <a:latin typeface="Aptos"/>
                <a:ea typeface="Microsoft YaHei"/>
              </a:rPr>
              <a:t>? wardrobe_locations????????????????????</a:t>
            </a:r>
          </a:p>
          <a:p>
            <a:r>
              <a:rPr lang="zh-CN" sz="1880" dirty="0">
                <a:solidFill>
                  <a:srgbClr val="2B2926"/>
                </a:solidFill>
                <a:latin typeface="Aptos"/>
                <a:ea typeface="Microsoft YaHei"/>
              </a:rPr>
              <a:t>? item_location_events???????????????????????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 Schema 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1100000" y="1700000"/>
            <a:ext cx="9900000" cy="4000000"/>
          </a:xfrm>
          <a:prstGeom prst="roundRect">
            <a:avLst/>
          </a:prstGeom>
          <a:solidFill>
            <a:srgbClr val="23211E"/>
          </a:solidFill>
          <a:ln w="8000">
            <a:solidFill>
              <a:srgbClr val="23211E"/>
            </a:solidFill>
          </a:ln>
        </p:spPr>
        <p:txBody>
          <a:bodyPr wrap="square" lIns="180000" tIns="130000" rIns="180000" bIns="130000"/>
          <a:lstStyle/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clothing_items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id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physical_instance_id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name / category / brand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twin_status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twin_confidence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/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item_identity_evidence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clothing_item_id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evidence_type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value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confidence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/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physical_anchors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anchor_type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anchor_uid</a:t>
            </a:r>
          </a:p>
          <a:p>
            <a:r>
              <a:rPr lang="zh-CN" sz="1700" dirty="0">
                <a:solidFill>
                  <a:srgbClr val="EDE7DC"/>
                </a:solidFill>
                <a:latin typeface="Aptos"/>
                <a:ea typeface="Microsoft YaHei"/>
              </a:rPr>
              <a:t>- bound_at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900000" y="1850000"/>
            <a:ext cx="10400000" cy="105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42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06 ???????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950000" y="3100000"/>
            <a:ext cx="9300000" cy="7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2350" dirty="0">
                <a:solidFill>
                  <a:srgbClr val="6C6258"/>
                </a:solidFill>
                <a:latin typeface="Aptos"/>
                <a:ea typeface="Microsoft YaHei"/>
              </a:rPr>
              <a:t>??????????????????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950000" y="4300000"/>
            <a:ext cx="2400000" cy="100000"/>
          </a:xfrm>
          <a:prstGeom prst="rect">
            <a:avLst/>
          </a:prstGeom>
          <a:solidFill>
            <a:srgbClr val="9A6B42"/>
          </a:solidFill>
          <a:ln w="8000">
            <a:solidFill>
              <a:srgbClr val="9A6B42"/>
            </a:solidFill>
          </a:ln>
        </p:spPr>
        <p:txBody>
          <a:bodyPr wrap="square" lIns="180000" tIns="130000" rIns="180000" bIns="130000"/>
          <a:lstStyle/>
          <a:p>
            <a:r>
              <a:rPr lang="zh-CN" sz="1000" dirty="0">
                <a:solidFill>
                  <a:srgbClr val="2B2926"/>
                </a:solidFill>
                <a:latin typeface="Aptos"/>
                <a:ea typeface="Microsoft YaHei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850000" y="1750000"/>
            <a:ext cx="10500000" cy="410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E1D9CE"/>
            </a:solidFill>
          </a:ln>
        </p:spPr>
        <p:txBody>
          <a:bodyPr wrap="square" lIns="180000" tIns="130000" rIns="180000" bIns="130000"/>
          <a:lstStyle/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??????????????????????????? Tab?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?????????????????????????</a:t>
            </a:r>
          </a:p>
          <a:p>
            <a:r>
              <a:rPr lang="zh-CN" sz="2050" dirty="0">
                <a:solidFill>
                  <a:srgbClr val="2B2926"/>
                </a:solidFill>
                <a:latin typeface="Aptos"/>
                <a:ea typeface="Microsoft YaHei"/>
              </a:rPr>
              <a:t>? ?????? Twin ????????????????????????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900000" y="1850000"/>
            <a:ext cx="10400000" cy="105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42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07 MVP 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950000" y="3100000"/>
            <a:ext cx="9300000" cy="70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2350" dirty="0">
                <a:solidFill>
                  <a:srgbClr val="6C6258"/>
                </a:solidFill>
                <a:latin typeface="Aptos"/>
                <a:ea typeface="Microsoft YaHei"/>
              </a:rPr>
              <a:t>???????????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950000" y="4300000"/>
            <a:ext cx="2400000" cy="100000"/>
          </a:xfrm>
          <a:prstGeom prst="rect">
            <a:avLst/>
          </a:prstGeom>
          <a:solidFill>
            <a:srgbClr val="9A6B42"/>
          </a:solidFill>
          <a:ln w="8000">
            <a:solidFill>
              <a:srgbClr val="9A6B42"/>
            </a:solidFill>
          </a:ln>
        </p:spPr>
        <p:txBody>
          <a:bodyPr wrap="square" lIns="180000" tIns="130000" rIns="180000" bIns="130000"/>
          <a:lstStyle/>
          <a:p>
            <a:r>
              <a:rPr lang="zh-CN" sz="1000" dirty="0">
                <a:solidFill>
                  <a:srgbClr val="2B2926"/>
                </a:solidFill>
                <a:latin typeface="Aptos"/>
                <a:ea typeface="Microsoft YaHei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20000" y="430000"/>
            <a:ext cx="10500000" cy="820000"/>
          </a:xfrm>
          <a:prstGeom prst="rect">
            <a:avLst/>
          </a:prstGeom>
          <a:solidFill>
            <a:srgbClr val="F7F3EC"/>
          </a:solidFill>
          <a:ln w="8000">
            <a:solidFill>
              <a:srgbClr val="F7F3EC"/>
            </a:solidFill>
          </a:ln>
        </p:spPr>
        <p:txBody>
          <a:bodyPr wrap="square" lIns="180000" tIns="130000" rIns="180000" bIns="130000"/>
          <a:lstStyle/>
          <a:p>
            <a:r>
              <a:rPr lang="zh-CN" sz="35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07 MVP ??????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760000" y="1600000"/>
            <a:ext cx="5050000" cy="3350000"/>
          </a:xfrm>
          <a:prstGeom prst="roundRect">
            <a:avLst/>
          </a:prstGeom>
          <a:solidFill>
            <a:srgbClr val="FFFFFF"/>
          </a:solidFill>
          <a:ln w="8000">
            <a:solidFill>
              <a:srgbClr val="E1D9CE"/>
            </a:solidFill>
          </a:ln>
        </p:spPr>
        <p:txBody>
          <a:bodyPr wrap="square" lIns="180000" tIns="130000" rIns="180000" bIns="130000"/>
          <a:lstStyle/>
          <a:p>
            <a:r>
              <a:rPr lang="zh-CN" sz="2200" dirty="0">
                <a:solidFill>
                  <a:srgbClr val="1F1D1A"/>
                </a:solidFill>
                <a:b/>
                <a:latin typeface="Aptos"/>
                <a:ea typeface="Microsoft YaHei"/>
              </a:rPr>
              <a:t>????</a:t>
            </a:r>
          </a:p>
          <a:p>
            <a:r>
              <a:rPr lang="zh-CN" sz="1650" dirty="0">
                <a:solidFill>
                  <a:srgbClr val="2B2926"/>
                </a:solidFill>
                <a:latin typeface="Aptos"/>
                <a:ea typeface="Microsoft YaHei"/>
              </a:rPr>
              <a:t>? Phase 1????? + ??/??? + twin_status + ?????</a:t>
            </a:r>
          </a:p>
          <a:p>
            <a:r>
              <a:rPr lang="zh-CN" sz="1650" dirty="0">
                <a:solidFill>
                  <a:srgbClr val="2B2926"/>
                </a:solidFill>
                <a:latin typeface="Aptos"/>
                <a:ea typeface="Microsoft YaHei"/>
              </a:rPr>
              <a:t>? Phase 2????? + ???? + ???????</a:t>
            </a:r>
          </a:p>
          <a:p>
            <a:r>
              <a:rPr lang="zh-CN" sz="1650" dirty="0">
                <a:solidFill>
                  <a:srgbClr val="2B2926"/>
                </a:solidFill>
                <a:latin typeface="Aptos"/>
                <a:ea typeface="Microsoft YaHei"/>
              </a:rPr>
              <a:t>? Phase 3????/NFC ??? + ?????</a:t>
            </a:r>
          </a:p>
          <a:p>
            <a:r>
              <a:rPr lang="zh-CN" sz="1650" dirty="0">
                <a:solidFill>
                  <a:srgbClr val="2B2926"/>
                </a:solidFill>
                <a:latin typeface="Aptos"/>
                <a:ea typeface="Microsoft YaHei"/>
              </a:rPr>
              <a:t>? Phase 4?????????????????????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6350000" y="1600000"/>
            <a:ext cx="5050000" cy="3350000"/>
          </a:xfrm>
          <a:prstGeom prst="roundRect">
            <a:avLst/>
          </a:prstGeom>
          <a:solidFill>
            <a:srgbClr val="1F1D1A"/>
          </a:solidFill>
          <a:ln w="8000">
            <a:solidFill>
              <a:srgbClr val="1F1D1A"/>
            </a:solidFill>
          </a:ln>
        </p:spPr>
        <p:txBody>
          <a:bodyPr wrap="square" lIns="180000" tIns="130000" rIns="180000" bIns="130000"/>
          <a:lstStyle/>
          <a:p>
            <a:r>
              <a:rPr lang="zh-CN" sz="2200" dirty="0">
                <a:solidFill>
                  <a:srgbClr val="FFFFFF"/>
                </a:solidFill>
                <a:b/>
                <a:latin typeface="Aptos"/>
                <a:ea typeface="Microsoft YaHei"/>
              </a:rPr>
              <a:t>????</a:t>
            </a:r>
          </a:p>
          <a:p>
            <a:r>
              <a:rPr lang="zh-CN" sz="1650" dirty="0">
                <a:solidFill>
                  <a:srgbClr val="FFFFFF"/>
                </a:solidFill>
                <a:latin typeface="Aptos"/>
                <a:ea typeface="Microsoft YaHei"/>
              </a:rPr>
              <a:t>? ?????????????????????????????????</a:t>
            </a:r>
          </a:p>
          <a:p>
            <a:r>
              <a:rPr lang="zh-CN" sz="1650" dirty="0">
                <a:solidFill>
                  <a:srgbClr val="FFFFFF"/>
                </a:solidFill>
                <a:latin typeface="Aptos"/>
                <a:ea typeface="Microsoft YaHei"/>
              </a:rPr>
              <a:t>? ????????? ID + ????? + ??? + ???? + ???????</a:t>
            </a:r>
          </a:p>
          <a:p>
            <a:r>
              <a:rPr lang="zh-CN" sz="1650" dirty="0">
                <a:solidFill>
                  <a:srgbClr val="FFFFFF"/>
                </a:solidFill>
                <a:latin typeface="Aptos"/>
                <a:ea typeface="Microsoft YaHei"/>
              </a:rPr>
              <a:t>? ???? digital twins ???????????? MVP ???</a:t>
            </a:r>
          </a:p>
        </p:txBody>
      </p:sp>
      <p:sp>
        <p:nvSpPr>
          <p:cNvPr id="14" name="Box 14"/>
          <p:cNvSpPr txBox="1"/>
          <p:nvPr/>
        </p:nvSpPr>
        <p:spPr>
          <a:xfrm>
            <a:off x="900000" y="5350000"/>
            <a:ext cx="9900000" cy="520000"/>
          </a:xfrm>
          <a:prstGeom prst="roundRect">
            <a:avLst/>
          </a:prstGeom>
          <a:solidFill>
            <a:srgbClr val="EAF2EF"/>
          </a:solidFill>
          <a:ln w="8000">
            <a:solidFill>
              <a:srgbClr val="BFD2CC"/>
            </a:solidFill>
          </a:ln>
        </p:spPr>
        <p:txBody>
          <a:bodyPr wrap="square" lIns="180000" tIns="130000" rIns="180000" bIns="130000"/>
          <a:lstStyle/>
          <a:p>
            <a:r>
              <a:rPr lang="zh-CN" sz="1850" dirty="0">
                <a:solidFill>
                  <a:srgbClr val="315C5B"/>
                </a:solidFill>
                <a:b/>
                <a:latin typeface="Aptos"/>
                <a:ea typeface="Microsoft YaHei"/>
              </a:rPr>
              <a:t>MVP ?????????????????????? = 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2026-06-08T10:14:05Z</dcterms:created>
  <dcterms:modified xsi:type="dcterms:W3CDTF">2026-06-08T10:14:05Z</dcterms:modified>
</cp:coreProperties>
</file>